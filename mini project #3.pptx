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layfair Display Medium"/>
      <p:regular r:id="rId26"/>
      <p:bold r:id="rId27"/>
      <p:italic r:id="rId28"/>
      <p:boldItalic r:id="rId29"/>
    </p:embeddedFont>
    <p:embeddedFont>
      <p:font typeface="Playfair Displ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Medium-regular.fntdata"/><Relationship Id="rId25" Type="http://schemas.openxmlformats.org/officeDocument/2006/relationships/slide" Target="slides/slide20.xml"/><Relationship Id="rId28" Type="http://schemas.openxmlformats.org/officeDocument/2006/relationships/font" Target="fonts/PlayfairDisplayMedium-italic.fntdata"/><Relationship Id="rId27" Type="http://schemas.openxmlformats.org/officeDocument/2006/relationships/font" Target="fonts/PlayfairDisplay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.fntdata"/><Relationship Id="rId30" Type="http://schemas.openxmlformats.org/officeDocument/2006/relationships/font" Target="fonts/PlayfairDisplay-regular.fntdata"/><Relationship Id="rId11" Type="http://schemas.openxmlformats.org/officeDocument/2006/relationships/slide" Target="slides/slide6.xml"/><Relationship Id="rId33" Type="http://schemas.openxmlformats.org/officeDocument/2006/relationships/font" Target="fonts/PlayfairDisplay-bold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e63074f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e63074f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63074fd1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e63074fd1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e63074fd1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e63074fd1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eb01a399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eb01a399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5e015ea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5e015ea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5e015eab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5e015eab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e63074fd1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e63074fd1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73540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Finally, share one thing that you found most challenging and one thing you found most rewarding across all the projects. This can be done individually or as a team. </a:t>
            </a:r>
            <a:endParaRPr sz="1200">
              <a:solidFill>
                <a:srgbClr val="273540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e63074fd1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e63074fd1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e63074fd1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e63074fd1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e63074fd1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ae63074fd1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e63074fd1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e63074fd1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e63074fd1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e63074fd1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e63074fd1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ae63074fd1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e63074fd1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e63074fd1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e63074fd1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e63074fd1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e63074fd1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ae63074fd1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e63074fd1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ae63074fd1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ae63074fd1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ae63074fd1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ae63074fd1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ae63074fd1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e63074fd1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ae63074fd1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1" name="Google Shape;21;p3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2" name="Google Shape;22;p3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" name="Google Shape;23;p3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4" name="Google Shape;34;p4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" name="Google Shape;35;p4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7" name="Google Shape;37;p4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9" name="Google Shape;49;p5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p6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4" name="Google Shape;54;p6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6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6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7" name="Google Shape;77;p7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8" name="Google Shape;78;p7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9" name="Google Shape;79;p7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0" name="Google Shape;80;p7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1" name="Google Shape;81;p7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2" name="Google Shape;82;p7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8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9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8" name="Google Shape;98;p10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0" name="Google Shape;100;p10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0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7" name="Google Shape;107;p10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8" name="Google Shape;108;p10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9" name="Google Shape;109;p10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0" name="Google Shape;110;p10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1" name="Google Shape;111;p10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1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4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4" name="Google Shape;144;p14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14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6" name="Google Shape;146;p14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14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14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15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8" name="Google Shape;158;p15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0" name="Google Shape;160;p15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15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5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1" name="Google Shape;1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190" name="Google Shape;19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" name="Google Shape;215;p3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20" name="Google Shape;220;p3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3" name="Google Shape;233;p3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9" name="Google Shape;239;p3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" name="Google Shape;243;p3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3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0" name="Google Shape;250;p3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3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" name="Google Shape;254;p3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3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" name="Google Shape;266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/>
        </p:nvSpPr>
        <p:spPr>
          <a:xfrm>
            <a:off x="283942" y="3730625"/>
            <a:ext cx="3396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Yuri Chen, Ashley Witte, Prateek Verma and Aaliyah Brown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283961" y="4450025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Fall 2025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283953" y="4090319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BADM 554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6" name="Google Shape;276;p38"/>
          <p:cNvCxnSpPr/>
          <p:nvPr/>
        </p:nvCxnSpPr>
        <p:spPr>
          <a:xfrm rot="10800000">
            <a:off x="283800" y="3964328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8"/>
          <p:cNvCxnSpPr/>
          <p:nvPr/>
        </p:nvCxnSpPr>
        <p:spPr>
          <a:xfrm rot="10800000">
            <a:off x="283800" y="4324039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8"/>
          <p:cNvCxnSpPr/>
          <p:nvPr/>
        </p:nvCxnSpPr>
        <p:spPr>
          <a:xfrm rot="10800000">
            <a:off x="283800" y="46837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8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8"/>
          <p:cNvCxnSpPr/>
          <p:nvPr/>
        </p:nvCxnSpPr>
        <p:spPr>
          <a:xfrm rot="10800000">
            <a:off x="283800" y="36046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8"/>
          <p:cNvSpPr txBox="1"/>
          <p:nvPr>
            <p:ph idx="4294967295" type="title"/>
          </p:nvPr>
        </p:nvSpPr>
        <p:spPr>
          <a:xfrm>
            <a:off x="278750" y="513900"/>
            <a:ext cx="58020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#3</a:t>
            </a:r>
            <a:endParaRPr/>
          </a:p>
        </p:txBody>
      </p:sp>
      <p:pic>
        <p:nvPicPr>
          <p:cNvPr id="282" name="Google Shape;2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687" y="457200"/>
            <a:ext cx="1457474" cy="126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1652" y="1803415"/>
            <a:ext cx="1867550" cy="186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8"/>
          <p:cNvPicPr preferRelativeResize="0"/>
          <p:nvPr/>
        </p:nvPicPr>
        <p:blipFill rotWithShape="1">
          <a:blip r:embed="rId5">
            <a:alphaModFix/>
          </a:blip>
          <a:srcRect b="0" l="8131" r="10719" t="0"/>
          <a:stretch/>
        </p:blipFill>
        <p:spPr>
          <a:xfrm>
            <a:off x="6802800" y="3554688"/>
            <a:ext cx="2345250" cy="1459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39"/>
          <p:cNvSpPr txBox="1"/>
          <p:nvPr>
            <p:ph type="title"/>
          </p:nvPr>
        </p:nvSpPr>
        <p:spPr>
          <a:xfrm>
            <a:off x="766350" y="134100"/>
            <a:ext cx="7506600" cy="11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</a:rPr>
              <a:t>Mini Project #2 : PYUSD for Cross-Border Payments</a:t>
            </a:r>
            <a:endParaRPr b="1"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9"/>
          <p:cNvSpPr txBox="1"/>
          <p:nvPr>
            <p:ph idx="1" type="subTitle"/>
          </p:nvPr>
        </p:nvSpPr>
        <p:spPr>
          <a:xfrm>
            <a:off x="777000" y="845100"/>
            <a:ext cx="74961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Playfair Display"/>
                <a:ea typeface="Playfair Display"/>
                <a:cs typeface="Playfair Display"/>
                <a:sym typeface="Playfair Display"/>
              </a:rPr>
              <a:t>Persona: Treasury Analyst, Token: PYUSD</a:t>
            </a:r>
            <a:endParaRPr sz="700"/>
          </a:p>
        </p:txBody>
      </p:sp>
      <p:sp>
        <p:nvSpPr>
          <p:cNvPr id="292" name="Google Shape;292;p39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3" name="Google Shape;293;p39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BADM 554</a:t>
            </a:r>
            <a:endParaRPr/>
          </a:p>
        </p:txBody>
      </p:sp>
      <p:sp>
        <p:nvSpPr>
          <p:cNvPr id="294" name="Google Shape;294;p39"/>
          <p:cNvSpPr txBox="1"/>
          <p:nvPr>
            <p:ph idx="4" type="body"/>
          </p:nvPr>
        </p:nvSpPr>
        <p:spPr>
          <a:xfrm>
            <a:off x="228600" y="4237775"/>
            <a:ext cx="3895800" cy="5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Price Stability: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PYUSD's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volatility enables reliable value transfer without crypto market risk which is essential for real-world commerce and financial planning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 txBox="1"/>
          <p:nvPr>
            <p:ph idx="6" type="body"/>
          </p:nvPr>
        </p:nvSpPr>
        <p:spPr>
          <a:xfrm>
            <a:off x="4923350" y="4260950"/>
            <a:ext cx="3895800" cy="5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 via Disintermediation: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Cost Chart proves that removing intermediary banks lowers fees by 97% ($60 to $1)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296" name="Google Shape;296;p39" title="Char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347" y="1267126"/>
            <a:ext cx="3571098" cy="28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525" y="1219950"/>
            <a:ext cx="3316136" cy="2894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40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#3 Stablecoin </a:t>
            </a:r>
            <a:endParaRPr/>
          </a:p>
        </p:txBody>
      </p:sp>
      <p:sp>
        <p:nvSpPr>
          <p:cNvPr id="304" name="Google Shape;304;p40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305" name="Google Shape;30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50" y="1063250"/>
            <a:ext cx="8839199" cy="371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837250" y="457200"/>
            <a:ext cx="6885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#3 Stablecoin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1" title="Transaction counts by month in 2024.png"/>
          <p:cNvPicPr preferRelativeResize="0"/>
          <p:nvPr/>
        </p:nvPicPr>
        <p:blipFill rotWithShape="1">
          <a:blip r:embed="rId3">
            <a:alphaModFix/>
          </a:blip>
          <a:srcRect b="0" l="29589" r="25200" t="0"/>
          <a:stretch/>
        </p:blipFill>
        <p:spPr>
          <a:xfrm>
            <a:off x="152400" y="986825"/>
            <a:ext cx="2233298" cy="16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 title="Top 3 months for transaction in 202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9800" y="818650"/>
            <a:ext cx="4268324" cy="290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1" title="Transaction count over 20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41775"/>
            <a:ext cx="4334152" cy="2249326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314" name="Google Shape;314;p41"/>
          <p:cNvSpPr txBox="1"/>
          <p:nvPr/>
        </p:nvSpPr>
        <p:spPr>
          <a:xfrm>
            <a:off x="2366850" y="1316550"/>
            <a:ext cx="17904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/>
              <a:t>1. Monthly Transaction Distribution (Pie Chart)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900"/>
              <a:t>This chart shows how PYUSD transactions were distributed across all months in 2024.</a:t>
            </a:r>
            <a:endParaRPr sz="9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41"/>
          <p:cNvSpPr txBox="1"/>
          <p:nvPr/>
        </p:nvSpPr>
        <p:spPr>
          <a:xfrm>
            <a:off x="4838800" y="3801100"/>
            <a:ext cx="4050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Top 3 Months in 2024 (Bar Chart)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bar chart compares monthly totals and identifies the top three months with the highest PYUSD transaction counts.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Daily Transaction Trend Over 2024 (Line Chart)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line chart shows how daily PYUSD transaction volume changes over time throughout 2024.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42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#3 Yelp Workflow </a:t>
            </a:r>
            <a:endParaRPr/>
          </a:p>
        </p:txBody>
      </p:sp>
      <p:sp>
        <p:nvSpPr>
          <p:cNvPr id="322" name="Google Shape;322;p42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3" name="Google Shape;323;p42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BADM 554</a:t>
            </a:r>
            <a:endParaRPr/>
          </a:p>
        </p:txBody>
      </p:sp>
      <p:pic>
        <p:nvPicPr>
          <p:cNvPr id="324" name="Google Shape;324;p42" title="Screenshot 2025-12-08 at 12.41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25" y="997500"/>
            <a:ext cx="8675773" cy="3710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0" name="Google Shape;330;p43"/>
          <p:cNvSpPr txBox="1"/>
          <p:nvPr>
            <p:ph idx="5" type="subTitle"/>
          </p:nvPr>
        </p:nvSpPr>
        <p:spPr>
          <a:xfrm>
            <a:off x="294875" y="2946500"/>
            <a:ext cx="17286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Review Rating Distribution: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restaurant review ratings in Orlando, FL by showing the percentage of reviews that received 1-5 star ratings </a:t>
            </a:r>
            <a:endParaRPr/>
          </a:p>
        </p:txBody>
      </p:sp>
      <p:sp>
        <p:nvSpPr>
          <p:cNvPr id="331" name="Google Shape;331;p43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#3 Yelp Workflow </a:t>
            </a:r>
            <a:endParaRPr/>
          </a:p>
        </p:txBody>
      </p:sp>
      <p:sp>
        <p:nvSpPr>
          <p:cNvPr id="332" name="Google Shape;332;p43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3" name="Google Shape;333;p43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BADM 554</a:t>
            </a:r>
            <a:endParaRPr/>
          </a:p>
        </p:txBody>
      </p:sp>
      <p:sp>
        <p:nvSpPr>
          <p:cNvPr id="334" name="Google Shape;334;p43"/>
          <p:cNvSpPr txBox="1"/>
          <p:nvPr>
            <p:ph idx="7" type="subTitle"/>
          </p:nvPr>
        </p:nvSpPr>
        <p:spPr>
          <a:xfrm>
            <a:off x="2223179" y="2663250"/>
            <a:ext cx="2154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Average Star Ratings by Restaurant</a:t>
            </a:r>
            <a:r>
              <a:rPr lang="en"/>
              <a:t>: D</a:t>
            </a:r>
            <a:r>
              <a:rPr lang="en"/>
              <a:t>istribution of restaurants by their average star rating</a:t>
            </a:r>
            <a:endParaRPr/>
          </a:p>
        </p:txBody>
      </p:sp>
      <p:sp>
        <p:nvSpPr>
          <p:cNvPr id="335" name="Google Shape;335;p43"/>
          <p:cNvSpPr txBox="1"/>
          <p:nvPr>
            <p:ph idx="9" type="subTitle"/>
          </p:nvPr>
        </p:nvSpPr>
        <p:spPr>
          <a:xfrm>
            <a:off x="6950482" y="2480247"/>
            <a:ext cx="21543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Average Star Ratings by </a:t>
            </a:r>
            <a:r>
              <a:rPr b="1" lang="en"/>
              <a:t>Restaurant:</a:t>
            </a:r>
            <a:r>
              <a:rPr lang="en"/>
              <a:t> Restaurants average star rating to highlight popular and  highly rated establishments</a:t>
            </a:r>
            <a:endParaRPr/>
          </a:p>
        </p:txBody>
      </p:sp>
      <p:pic>
        <p:nvPicPr>
          <p:cNvPr id="336" name="Google Shape;336;p43" title="Screenshot 2025-12-08 at 1.11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25" y="948113"/>
            <a:ext cx="2065695" cy="179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3" title="Screenshot 2025-12-08 at 1.11.5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3438" y="3229790"/>
            <a:ext cx="2300224" cy="179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3" title="Screenshot 2025-12-08 at 1.12.19 PM.png"/>
          <p:cNvPicPr preferRelativeResize="0"/>
          <p:nvPr/>
        </p:nvPicPr>
        <p:blipFill rotWithShape="1">
          <a:blip r:embed="rId5">
            <a:alphaModFix/>
          </a:blip>
          <a:srcRect b="0" l="0" r="6217" t="0"/>
          <a:stretch/>
        </p:blipFill>
        <p:spPr>
          <a:xfrm>
            <a:off x="4288675" y="852200"/>
            <a:ext cx="2561702" cy="1898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3" title="Screenshot 2025-12-08 at 1.12.3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5375" y="3229800"/>
            <a:ext cx="2463300" cy="182572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3"/>
          <p:cNvSpPr txBox="1"/>
          <p:nvPr/>
        </p:nvSpPr>
        <p:spPr>
          <a:xfrm>
            <a:off x="4281453" y="2744013"/>
            <a:ext cx="2561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Review Count by Restaurant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: The number of reviews by restaurant to highlight establishments that receive the most attention from visitors 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/>
          <p:nvPr/>
        </p:nvSpPr>
        <p:spPr>
          <a:xfrm>
            <a:off x="6013600" y="1368650"/>
            <a:ext cx="2312400" cy="344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5075" lIns="95075" spcFirstLastPara="1" rIns="95075" wrap="square" tIns="9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5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44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Project Learning R</a:t>
            </a:r>
            <a:r>
              <a:rPr lang="en"/>
              <a:t>oadmap</a:t>
            </a:r>
            <a:endParaRPr/>
          </a:p>
        </p:txBody>
      </p:sp>
      <p:sp>
        <p:nvSpPr>
          <p:cNvPr id="347" name="Google Shape;347;p44"/>
          <p:cNvSpPr txBox="1"/>
          <p:nvPr/>
        </p:nvSpPr>
        <p:spPr>
          <a:xfrm>
            <a:off x="823332" y="1457526"/>
            <a:ext cx="16542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6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Mini Project 2</a:t>
            </a:r>
            <a:endParaRPr sz="1516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3503713" y="1457518"/>
            <a:ext cx="15900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7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Mini Project 3</a:t>
            </a:r>
            <a:endParaRPr sz="1457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49" name="Google Shape;349;p44"/>
          <p:cNvSpPr txBox="1"/>
          <p:nvPr/>
        </p:nvSpPr>
        <p:spPr>
          <a:xfrm>
            <a:off x="6104057" y="1468934"/>
            <a:ext cx="1588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5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Challenges</a:t>
            </a:r>
            <a:endParaRPr sz="1455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3503717" y="1917642"/>
            <a:ext cx="2091900" cy="21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Navigating Knime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Setting up a cloud database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Uploading data into a database from Knime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Combining data from different database in Knime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Working with MongoDB, Dune and using APIs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6104072" y="1937338"/>
            <a:ext cx="217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Understanding blockchains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Navigating multiple different new tools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820575" y="1917660"/>
            <a:ext cx="217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Using Dune and working with blockchain data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Writing more complex SQL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queries with real world blockchain data.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Designing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visualizations for financial data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Understanding how digital wallets work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3" name="Google Shape;35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637" y="1472942"/>
            <a:ext cx="203250" cy="2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9015" y="1489523"/>
            <a:ext cx="211535" cy="21153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4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BADM 554</a:t>
            </a:r>
            <a:endParaRPr/>
          </a:p>
        </p:txBody>
      </p:sp>
      <p:sp>
        <p:nvSpPr>
          <p:cNvPr id="357" name="Google Shape;357;p44"/>
          <p:cNvSpPr txBox="1"/>
          <p:nvPr/>
        </p:nvSpPr>
        <p:spPr>
          <a:xfrm>
            <a:off x="6104082" y="2887924"/>
            <a:ext cx="1588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5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Rewards</a:t>
            </a:r>
            <a:endParaRPr sz="1455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6104072" y="3337788"/>
            <a:ext cx="217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Overcoming all the challenges!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38088" lvl="0" marL="123776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﹣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Producing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visualizations from queries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descr="A modern glass building under a sunny blue sky. " id="364" name="Google Shape;364;p45"/>
          <p:cNvPicPr preferRelativeResize="0"/>
          <p:nvPr/>
        </p:nvPicPr>
        <p:blipFill rotWithShape="1">
          <a:blip r:embed="rId3">
            <a:alphaModFix/>
          </a:blip>
          <a:srcRect b="36562" l="0" r="0" t="46565"/>
          <a:stretch/>
        </p:blipFill>
        <p:spPr>
          <a:xfrm>
            <a:off x="9127" y="0"/>
            <a:ext cx="9143997" cy="10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45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BADM 554</a:t>
            </a:r>
            <a:endParaRPr/>
          </a:p>
        </p:txBody>
      </p:sp>
      <p:cxnSp>
        <p:nvCxnSpPr>
          <p:cNvPr id="367" name="Google Shape;367;p45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/>
          <p:nvPr/>
        </p:nvSpPr>
        <p:spPr>
          <a:xfrm>
            <a:off x="50" y="1416650"/>
            <a:ext cx="5123400" cy="326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46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persona or target audience</a:t>
            </a:r>
            <a:endParaRPr/>
          </a:p>
        </p:txBody>
      </p:sp>
      <p:sp>
        <p:nvSpPr>
          <p:cNvPr id="374" name="Google Shape;374;p46"/>
          <p:cNvSpPr txBox="1"/>
          <p:nvPr/>
        </p:nvSpPr>
        <p:spPr>
          <a:xfrm>
            <a:off x="2975050" y="2108050"/>
            <a:ext cx="193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Introduce a persona, or fictional character, that represents your target audience.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46"/>
          <p:cNvSpPr txBox="1"/>
          <p:nvPr/>
        </p:nvSpPr>
        <p:spPr>
          <a:xfrm>
            <a:off x="2975050" y="1627450"/>
            <a:ext cx="235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Persona Name</a:t>
            </a:r>
            <a:endParaRPr sz="16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76" name="Google Shape;376;p46"/>
          <p:cNvSpPr txBox="1"/>
          <p:nvPr/>
        </p:nvSpPr>
        <p:spPr>
          <a:xfrm>
            <a:off x="2975050" y="401943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Age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5328975" y="2108050"/>
            <a:ext cx="2762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Needs and motivations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does your persona want, and what do they care about?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" name="Google Shape;378;p46"/>
          <p:cNvSpPr txBox="1"/>
          <p:nvPr/>
        </p:nvSpPr>
        <p:spPr>
          <a:xfrm>
            <a:off x="5328975" y="2922525"/>
            <a:ext cx="2762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Pain points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challenges does your persona face? What are their concerns?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46"/>
          <p:cNvSpPr txBox="1"/>
          <p:nvPr/>
        </p:nvSpPr>
        <p:spPr>
          <a:xfrm>
            <a:off x="5328975" y="3767900"/>
            <a:ext cx="2762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How we can help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Describe how your product meets the needs of your persona and addresses their pain points.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" name="Google Shape;380;p46"/>
          <p:cNvSpPr txBox="1"/>
          <p:nvPr/>
        </p:nvSpPr>
        <p:spPr>
          <a:xfrm>
            <a:off x="2975050" y="428073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Profession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" name="Google Shape;381;p46"/>
          <p:cNvSpPr txBox="1"/>
          <p:nvPr/>
        </p:nvSpPr>
        <p:spPr>
          <a:xfrm>
            <a:off x="2975050" y="375813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Pronouns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2" name="Google Shape;382;p46"/>
          <p:cNvGrpSpPr/>
          <p:nvPr/>
        </p:nvGrpSpPr>
        <p:grpSpPr>
          <a:xfrm>
            <a:off x="2975050" y="3704119"/>
            <a:ext cx="1935600" cy="783900"/>
            <a:chOff x="2975050" y="3689000"/>
            <a:chExt cx="1935600" cy="783900"/>
          </a:xfrm>
        </p:grpSpPr>
        <p:cxnSp>
          <p:nvCxnSpPr>
            <p:cNvPr id="383" name="Google Shape;383;p46"/>
            <p:cNvCxnSpPr/>
            <p:nvPr/>
          </p:nvCxnSpPr>
          <p:spPr>
            <a:xfrm>
              <a:off x="2975050" y="39503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46"/>
            <p:cNvCxnSpPr/>
            <p:nvPr/>
          </p:nvCxnSpPr>
          <p:spPr>
            <a:xfrm>
              <a:off x="2975050" y="42116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46"/>
            <p:cNvCxnSpPr/>
            <p:nvPr/>
          </p:nvCxnSpPr>
          <p:spPr>
            <a:xfrm>
              <a:off x="2975050" y="44729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46"/>
            <p:cNvCxnSpPr/>
            <p:nvPr/>
          </p:nvCxnSpPr>
          <p:spPr>
            <a:xfrm>
              <a:off x="2975050" y="3689000"/>
              <a:ext cx="1935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87" name="Google Shape;387;p46"/>
          <p:cNvCxnSpPr/>
          <p:nvPr/>
        </p:nvCxnSpPr>
        <p:spPr>
          <a:xfrm>
            <a:off x="2975050" y="1979623"/>
            <a:ext cx="5109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4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46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Listening to music in headphones. Young african american man in black jacket outdoors in the city standing against modern business building (Provided by Getty Images)" id="390" name="Google Shape;390;p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7553" l="44105" r="23472" t="25008"/>
          <a:stretch/>
        </p:blipFill>
        <p:spPr>
          <a:xfrm>
            <a:off x="-1" y="1416700"/>
            <a:ext cx="2762400" cy="32670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Google Shape;395;p47"/>
          <p:cNvCxnSpPr/>
          <p:nvPr/>
        </p:nvCxnSpPr>
        <p:spPr>
          <a:xfrm rot="10800000">
            <a:off x="270887" y="17007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7"/>
          <p:cNvCxnSpPr/>
          <p:nvPr/>
        </p:nvCxnSpPr>
        <p:spPr>
          <a:xfrm rot="10800000">
            <a:off x="270887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7"/>
          <p:cNvCxnSpPr/>
          <p:nvPr/>
        </p:nvCxnSpPr>
        <p:spPr>
          <a:xfrm rot="10800000">
            <a:off x="270887" y="35763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7"/>
          <p:cNvCxnSpPr/>
          <p:nvPr/>
        </p:nvCxnSpPr>
        <p:spPr>
          <a:xfrm rot="10800000">
            <a:off x="4858665" y="1700775"/>
            <a:ext cx="40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7"/>
          <p:cNvCxnSpPr/>
          <p:nvPr/>
        </p:nvCxnSpPr>
        <p:spPr>
          <a:xfrm rot="10800000">
            <a:off x="4858220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47"/>
          <p:cNvCxnSpPr/>
          <p:nvPr/>
        </p:nvCxnSpPr>
        <p:spPr>
          <a:xfrm rot="10800000">
            <a:off x="4858220" y="35763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47"/>
          <p:cNvSpPr txBox="1"/>
          <p:nvPr>
            <p:ph idx="7"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402" name="Google Shape;402;p47"/>
          <p:cNvSpPr txBox="1"/>
          <p:nvPr>
            <p:ph type="title"/>
          </p:nvPr>
        </p:nvSpPr>
        <p:spPr>
          <a:xfrm>
            <a:off x="270983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403" name="Google Shape;403;p47"/>
          <p:cNvSpPr txBox="1"/>
          <p:nvPr>
            <p:ph idx="2" type="title"/>
          </p:nvPr>
        </p:nvSpPr>
        <p:spPr>
          <a:xfrm>
            <a:off x="270983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404" name="Google Shape;404;p47"/>
          <p:cNvSpPr txBox="1"/>
          <p:nvPr>
            <p:ph idx="3" type="title"/>
          </p:nvPr>
        </p:nvSpPr>
        <p:spPr>
          <a:xfrm>
            <a:off x="270983" y="38606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405" name="Google Shape;405;p47"/>
          <p:cNvSpPr txBox="1"/>
          <p:nvPr>
            <p:ph idx="4" type="title"/>
          </p:nvPr>
        </p:nvSpPr>
        <p:spPr>
          <a:xfrm>
            <a:off x="4858317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406" name="Google Shape;406;p47"/>
          <p:cNvSpPr txBox="1"/>
          <p:nvPr>
            <p:ph idx="5" type="title"/>
          </p:nvPr>
        </p:nvSpPr>
        <p:spPr>
          <a:xfrm>
            <a:off x="4858317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407" name="Google Shape;407;p47"/>
          <p:cNvSpPr txBox="1"/>
          <p:nvPr>
            <p:ph idx="6" type="title"/>
          </p:nvPr>
        </p:nvSpPr>
        <p:spPr>
          <a:xfrm>
            <a:off x="4858317" y="38606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408" name="Google Shape;408;p47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09" name="Google Shape;409;p4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47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1" name="Google Shape;411;p47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12" name="Google Shape;412;p47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13" name="Google Shape;413;p47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14" name="Google Shape;414;p47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15" name="Google Shape;415;p47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421" name="Google Shape;421;p48"/>
          <p:cNvSpPr txBox="1"/>
          <p:nvPr/>
        </p:nvSpPr>
        <p:spPr>
          <a:xfrm>
            <a:off x="284700" y="32000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Age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" name="Google Shape;422;p48"/>
          <p:cNvSpPr txBox="1"/>
          <p:nvPr/>
        </p:nvSpPr>
        <p:spPr>
          <a:xfrm>
            <a:off x="284700" y="34613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Profession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3" name="Google Shape;423;p48"/>
          <p:cNvSpPr txBox="1"/>
          <p:nvPr/>
        </p:nvSpPr>
        <p:spPr>
          <a:xfrm>
            <a:off x="284700" y="29387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Pronouns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" name="Google Shape;424;p48"/>
          <p:cNvSpPr txBox="1"/>
          <p:nvPr/>
        </p:nvSpPr>
        <p:spPr>
          <a:xfrm>
            <a:off x="284700" y="37226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Location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" name="Google Shape;425;p48"/>
          <p:cNvSpPr txBox="1"/>
          <p:nvPr/>
        </p:nvSpPr>
        <p:spPr>
          <a:xfrm>
            <a:off x="284700" y="39839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Relationship Status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284700" y="4245288"/>
            <a:ext cx="193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Education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7" name="Google Shape;427;p48"/>
          <p:cNvGrpSpPr/>
          <p:nvPr/>
        </p:nvGrpSpPr>
        <p:grpSpPr>
          <a:xfrm>
            <a:off x="284700" y="3130950"/>
            <a:ext cx="2477700" cy="1306500"/>
            <a:chOff x="284700" y="3130950"/>
            <a:chExt cx="2477700" cy="1306500"/>
          </a:xfrm>
        </p:grpSpPr>
        <p:cxnSp>
          <p:nvCxnSpPr>
            <p:cNvPr id="428" name="Google Shape;428;p48"/>
            <p:cNvCxnSpPr/>
            <p:nvPr/>
          </p:nvCxnSpPr>
          <p:spPr>
            <a:xfrm>
              <a:off x="284700" y="31309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48"/>
            <p:cNvCxnSpPr/>
            <p:nvPr/>
          </p:nvCxnSpPr>
          <p:spPr>
            <a:xfrm>
              <a:off x="284700" y="33922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48"/>
            <p:cNvCxnSpPr/>
            <p:nvPr/>
          </p:nvCxnSpPr>
          <p:spPr>
            <a:xfrm>
              <a:off x="284700" y="36535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48"/>
            <p:cNvCxnSpPr/>
            <p:nvPr/>
          </p:nvCxnSpPr>
          <p:spPr>
            <a:xfrm>
              <a:off x="284700" y="39148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48"/>
            <p:cNvCxnSpPr/>
            <p:nvPr/>
          </p:nvCxnSpPr>
          <p:spPr>
            <a:xfrm>
              <a:off x="284700" y="41761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48"/>
            <p:cNvCxnSpPr/>
            <p:nvPr/>
          </p:nvCxnSpPr>
          <p:spPr>
            <a:xfrm>
              <a:off x="284700" y="4437450"/>
              <a:ext cx="2477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4" name="Google Shape;434;p48"/>
          <p:cNvSpPr txBox="1"/>
          <p:nvPr/>
        </p:nvSpPr>
        <p:spPr>
          <a:xfrm>
            <a:off x="3003025" y="1111850"/>
            <a:ext cx="302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“Quote the persona on their needs and wants. This can be a fictional line or an excerpt from a user interview.”</a:t>
            </a:r>
            <a:endParaRPr>
              <a:solidFill>
                <a:schemeClr val="lt1"/>
              </a:solidFill>
              <a:highlight>
                <a:schemeClr val="accent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35" name="Google Shape;435;p48"/>
          <p:cNvSpPr txBox="1"/>
          <p:nvPr/>
        </p:nvSpPr>
        <p:spPr>
          <a:xfrm>
            <a:off x="3002975" y="2038150"/>
            <a:ext cx="30267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Bio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Introduce your persona. Think about a hypothetical user or customer who represents an audience segment. The individual might be fictional, but the insights should be derived from your audience research.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48"/>
          <p:cNvSpPr txBox="1"/>
          <p:nvPr/>
        </p:nvSpPr>
        <p:spPr>
          <a:xfrm>
            <a:off x="6270450" y="1111850"/>
            <a:ext cx="25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Motivations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grpSp>
        <p:nvGrpSpPr>
          <p:cNvPr id="437" name="Google Shape;437;p48"/>
          <p:cNvGrpSpPr/>
          <p:nvPr/>
        </p:nvGrpSpPr>
        <p:grpSpPr>
          <a:xfrm>
            <a:off x="6270450" y="1426163"/>
            <a:ext cx="2591700" cy="245313"/>
            <a:chOff x="6270450" y="1426163"/>
            <a:chExt cx="2591700" cy="245313"/>
          </a:xfrm>
        </p:grpSpPr>
        <p:sp>
          <p:nvSpPr>
            <p:cNvPr id="438" name="Google Shape;438;p48"/>
            <p:cNvSpPr txBox="1"/>
            <p:nvPr/>
          </p:nvSpPr>
          <p:spPr>
            <a:xfrm>
              <a:off x="6270450" y="1426163"/>
              <a:ext cx="1935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Driver 1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39" name="Google Shape;439;p48"/>
            <p:cNvGrpSpPr/>
            <p:nvPr/>
          </p:nvGrpSpPr>
          <p:grpSpPr>
            <a:xfrm>
              <a:off x="6270450" y="1603375"/>
              <a:ext cx="2591700" cy="68100"/>
              <a:chOff x="6270450" y="1603375"/>
              <a:chExt cx="2591700" cy="68100"/>
            </a:xfrm>
          </p:grpSpPr>
          <p:sp>
            <p:nvSpPr>
              <p:cNvPr id="440" name="Google Shape;440;p48"/>
              <p:cNvSpPr/>
              <p:nvPr/>
            </p:nvSpPr>
            <p:spPr>
              <a:xfrm>
                <a:off x="6270450" y="1603375"/>
                <a:ext cx="2591700" cy="68100"/>
              </a:xfrm>
              <a:prstGeom prst="rect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descr="A series of charts showing motivational drivers for the user persona. " id="441" name="Google Shape;441;p48"/>
              <p:cNvSpPr/>
              <p:nvPr/>
            </p:nvSpPr>
            <p:spPr>
              <a:xfrm>
                <a:off x="6270450" y="1603375"/>
                <a:ext cx="17964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42" name="Google Shape;442;p48"/>
          <p:cNvGrpSpPr/>
          <p:nvPr/>
        </p:nvGrpSpPr>
        <p:grpSpPr>
          <a:xfrm>
            <a:off x="6270450" y="1788813"/>
            <a:ext cx="2591700" cy="245313"/>
            <a:chOff x="6270450" y="1788813"/>
            <a:chExt cx="2591700" cy="245313"/>
          </a:xfrm>
        </p:grpSpPr>
        <p:sp>
          <p:nvSpPr>
            <p:cNvPr id="443" name="Google Shape;443;p48"/>
            <p:cNvSpPr txBox="1"/>
            <p:nvPr/>
          </p:nvSpPr>
          <p:spPr>
            <a:xfrm>
              <a:off x="6270450" y="1788813"/>
              <a:ext cx="1935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Driver 2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44" name="Google Shape;444;p48"/>
            <p:cNvGrpSpPr/>
            <p:nvPr/>
          </p:nvGrpSpPr>
          <p:grpSpPr>
            <a:xfrm>
              <a:off x="6270450" y="1966025"/>
              <a:ext cx="2591700" cy="68100"/>
              <a:chOff x="6270450" y="1966025"/>
              <a:chExt cx="2591700" cy="68100"/>
            </a:xfrm>
          </p:grpSpPr>
          <p:sp>
            <p:nvSpPr>
              <p:cNvPr id="445" name="Google Shape;445;p48"/>
              <p:cNvSpPr/>
              <p:nvPr/>
            </p:nvSpPr>
            <p:spPr>
              <a:xfrm>
                <a:off x="6270450" y="1966025"/>
                <a:ext cx="2591700" cy="68100"/>
              </a:xfrm>
              <a:prstGeom prst="rect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6" name="Google Shape;446;p48"/>
              <p:cNvSpPr/>
              <p:nvPr/>
            </p:nvSpPr>
            <p:spPr>
              <a:xfrm>
                <a:off x="6270450" y="1966025"/>
                <a:ext cx="1101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47" name="Google Shape;447;p48"/>
          <p:cNvGrpSpPr/>
          <p:nvPr/>
        </p:nvGrpSpPr>
        <p:grpSpPr>
          <a:xfrm>
            <a:off x="6270450" y="2151463"/>
            <a:ext cx="2591700" cy="245313"/>
            <a:chOff x="6270450" y="2151463"/>
            <a:chExt cx="2591700" cy="245313"/>
          </a:xfrm>
        </p:grpSpPr>
        <p:sp>
          <p:nvSpPr>
            <p:cNvPr id="448" name="Google Shape;448;p48"/>
            <p:cNvSpPr txBox="1"/>
            <p:nvPr/>
          </p:nvSpPr>
          <p:spPr>
            <a:xfrm>
              <a:off x="6270450" y="2151463"/>
              <a:ext cx="1935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Driver 3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49" name="Google Shape;449;p48"/>
            <p:cNvGrpSpPr/>
            <p:nvPr/>
          </p:nvGrpSpPr>
          <p:grpSpPr>
            <a:xfrm>
              <a:off x="6270450" y="2328675"/>
              <a:ext cx="2591700" cy="68100"/>
              <a:chOff x="6270450" y="2328675"/>
              <a:chExt cx="2591700" cy="68100"/>
            </a:xfrm>
          </p:grpSpPr>
          <p:sp>
            <p:nvSpPr>
              <p:cNvPr id="450" name="Google Shape;450;p48"/>
              <p:cNvSpPr/>
              <p:nvPr/>
            </p:nvSpPr>
            <p:spPr>
              <a:xfrm>
                <a:off x="6270450" y="2328675"/>
                <a:ext cx="2591700" cy="68100"/>
              </a:xfrm>
              <a:prstGeom prst="rect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1" name="Google Shape;451;p48"/>
              <p:cNvSpPr/>
              <p:nvPr/>
            </p:nvSpPr>
            <p:spPr>
              <a:xfrm>
                <a:off x="6270450" y="2328675"/>
                <a:ext cx="21405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452" name="Google Shape;452;p48"/>
          <p:cNvSpPr txBox="1"/>
          <p:nvPr/>
        </p:nvSpPr>
        <p:spPr>
          <a:xfrm>
            <a:off x="6270350" y="2764600"/>
            <a:ext cx="259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Tech skills</a:t>
            </a:r>
            <a:endParaRPr sz="12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grpSp>
        <p:nvGrpSpPr>
          <p:cNvPr id="453" name="Google Shape;453;p48"/>
          <p:cNvGrpSpPr/>
          <p:nvPr/>
        </p:nvGrpSpPr>
        <p:grpSpPr>
          <a:xfrm>
            <a:off x="6270350" y="3078924"/>
            <a:ext cx="1188407" cy="265512"/>
            <a:chOff x="6270350" y="3078924"/>
            <a:chExt cx="1188407" cy="265512"/>
          </a:xfrm>
        </p:grpSpPr>
        <p:grpSp>
          <p:nvGrpSpPr>
            <p:cNvPr id="454" name="Google Shape;454;p48"/>
            <p:cNvGrpSpPr/>
            <p:nvPr/>
          </p:nvGrpSpPr>
          <p:grpSpPr>
            <a:xfrm>
              <a:off x="6270367" y="3264036"/>
              <a:ext cx="1188390" cy="80400"/>
              <a:chOff x="6270367" y="3264036"/>
              <a:chExt cx="1188390" cy="80400"/>
            </a:xfrm>
          </p:grpSpPr>
          <p:sp>
            <p:nvSpPr>
              <p:cNvPr id="455" name="Google Shape;455;p48"/>
              <p:cNvSpPr/>
              <p:nvPr/>
            </p:nvSpPr>
            <p:spPr>
              <a:xfrm>
                <a:off x="627036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6" name="Google Shape;456;p48"/>
              <p:cNvSpPr/>
              <p:nvPr/>
            </p:nvSpPr>
            <p:spPr>
              <a:xfrm>
                <a:off x="639347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7" name="Google Shape;457;p48"/>
              <p:cNvSpPr/>
              <p:nvPr/>
            </p:nvSpPr>
            <p:spPr>
              <a:xfrm>
                <a:off x="651658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8" name="Google Shape;458;p48"/>
              <p:cNvSpPr/>
              <p:nvPr/>
            </p:nvSpPr>
            <p:spPr>
              <a:xfrm>
                <a:off x="663969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59" name="Google Shape;459;p48"/>
              <p:cNvSpPr/>
              <p:nvPr/>
            </p:nvSpPr>
            <p:spPr>
              <a:xfrm>
                <a:off x="676280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0" name="Google Shape;460;p48"/>
              <p:cNvSpPr/>
              <p:nvPr/>
            </p:nvSpPr>
            <p:spPr>
              <a:xfrm>
                <a:off x="6885917" y="3264036"/>
                <a:ext cx="80400" cy="804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1" name="Google Shape;461;p48"/>
              <p:cNvSpPr/>
              <p:nvPr/>
            </p:nvSpPr>
            <p:spPr>
              <a:xfrm>
                <a:off x="700902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2" name="Google Shape;462;p48"/>
              <p:cNvSpPr/>
              <p:nvPr/>
            </p:nvSpPr>
            <p:spPr>
              <a:xfrm>
                <a:off x="713213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3" name="Google Shape;463;p48"/>
              <p:cNvSpPr/>
              <p:nvPr/>
            </p:nvSpPr>
            <p:spPr>
              <a:xfrm>
                <a:off x="725524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4" name="Google Shape;464;p48"/>
              <p:cNvSpPr/>
              <p:nvPr/>
            </p:nvSpPr>
            <p:spPr>
              <a:xfrm>
                <a:off x="7378357" y="3264036"/>
                <a:ext cx="80400" cy="804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descr="A series of charts showing the user persona's proficiency with several apps and devices. " id="465" name="Google Shape;465;p48"/>
            <p:cNvSpPr txBox="1"/>
            <p:nvPr/>
          </p:nvSpPr>
          <p:spPr>
            <a:xfrm>
              <a:off x="6270350" y="3078925"/>
              <a:ext cx="532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Device 1 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6" name="Google Shape;466;p48"/>
            <p:cNvSpPr txBox="1"/>
            <p:nvPr/>
          </p:nvSpPr>
          <p:spPr>
            <a:xfrm>
              <a:off x="7026349" y="3078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67" name="Google Shape;467;p48"/>
          <p:cNvGrpSpPr/>
          <p:nvPr/>
        </p:nvGrpSpPr>
        <p:grpSpPr>
          <a:xfrm>
            <a:off x="7673652" y="3078924"/>
            <a:ext cx="1188368" cy="265482"/>
            <a:chOff x="7673652" y="3078924"/>
            <a:chExt cx="1188368" cy="265482"/>
          </a:xfrm>
        </p:grpSpPr>
        <p:grpSp>
          <p:nvGrpSpPr>
            <p:cNvPr id="468" name="Google Shape;468;p48"/>
            <p:cNvGrpSpPr/>
            <p:nvPr/>
          </p:nvGrpSpPr>
          <p:grpSpPr>
            <a:xfrm>
              <a:off x="7673660" y="3264036"/>
              <a:ext cx="1188360" cy="80370"/>
              <a:chOff x="5899350" y="4265151"/>
              <a:chExt cx="1330750" cy="90000"/>
            </a:xfrm>
          </p:grpSpPr>
          <p:sp>
            <p:nvSpPr>
              <p:cNvPr id="469" name="Google Shape;469;p48"/>
              <p:cNvSpPr/>
              <p:nvPr/>
            </p:nvSpPr>
            <p:spPr>
              <a:xfrm>
                <a:off x="5899350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0" name="Google Shape;470;p48"/>
              <p:cNvSpPr/>
              <p:nvPr/>
            </p:nvSpPr>
            <p:spPr>
              <a:xfrm>
                <a:off x="6037211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1" name="Google Shape;471;p48"/>
              <p:cNvSpPr/>
              <p:nvPr/>
            </p:nvSpPr>
            <p:spPr>
              <a:xfrm>
                <a:off x="6175072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2" name="Google Shape;472;p48"/>
              <p:cNvSpPr/>
              <p:nvPr/>
            </p:nvSpPr>
            <p:spPr>
              <a:xfrm>
                <a:off x="6312933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3" name="Google Shape;473;p48"/>
              <p:cNvSpPr/>
              <p:nvPr/>
            </p:nvSpPr>
            <p:spPr>
              <a:xfrm>
                <a:off x="6450794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4" name="Google Shape;474;p48"/>
              <p:cNvSpPr/>
              <p:nvPr/>
            </p:nvSpPr>
            <p:spPr>
              <a:xfrm>
                <a:off x="6588656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" name="Google Shape;475;p48"/>
              <p:cNvSpPr/>
              <p:nvPr/>
            </p:nvSpPr>
            <p:spPr>
              <a:xfrm>
                <a:off x="6726517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" name="Google Shape;476;p48"/>
              <p:cNvSpPr/>
              <p:nvPr/>
            </p:nvSpPr>
            <p:spPr>
              <a:xfrm>
                <a:off x="6864378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7" name="Google Shape;477;p48"/>
              <p:cNvSpPr/>
              <p:nvPr/>
            </p:nvSpPr>
            <p:spPr>
              <a:xfrm>
                <a:off x="7002239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8" name="Google Shape;478;p48"/>
              <p:cNvSpPr/>
              <p:nvPr/>
            </p:nvSpPr>
            <p:spPr>
              <a:xfrm>
                <a:off x="7140100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479" name="Google Shape;479;p48"/>
            <p:cNvSpPr txBox="1"/>
            <p:nvPr/>
          </p:nvSpPr>
          <p:spPr>
            <a:xfrm>
              <a:off x="7673652" y="3078925"/>
              <a:ext cx="5325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Device 2 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80" name="Google Shape;480;p48"/>
            <p:cNvSpPr txBox="1"/>
            <p:nvPr/>
          </p:nvSpPr>
          <p:spPr>
            <a:xfrm>
              <a:off x="8429642" y="3078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</a:t>
              </a: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81" name="Google Shape;481;p48"/>
          <p:cNvGrpSpPr/>
          <p:nvPr/>
        </p:nvGrpSpPr>
        <p:grpSpPr>
          <a:xfrm>
            <a:off x="6270350" y="3639924"/>
            <a:ext cx="1188377" cy="265482"/>
            <a:chOff x="6270350" y="3639924"/>
            <a:chExt cx="1188377" cy="265482"/>
          </a:xfrm>
        </p:grpSpPr>
        <p:grpSp>
          <p:nvGrpSpPr>
            <p:cNvPr id="482" name="Google Shape;482;p48"/>
            <p:cNvGrpSpPr/>
            <p:nvPr/>
          </p:nvGrpSpPr>
          <p:grpSpPr>
            <a:xfrm>
              <a:off x="6270367" y="3825036"/>
              <a:ext cx="1188360" cy="80370"/>
              <a:chOff x="5899350" y="4265151"/>
              <a:chExt cx="1330750" cy="90000"/>
            </a:xfrm>
          </p:grpSpPr>
          <p:sp>
            <p:nvSpPr>
              <p:cNvPr id="483" name="Google Shape;483;p48"/>
              <p:cNvSpPr/>
              <p:nvPr/>
            </p:nvSpPr>
            <p:spPr>
              <a:xfrm>
                <a:off x="5899350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4" name="Google Shape;484;p48"/>
              <p:cNvSpPr/>
              <p:nvPr/>
            </p:nvSpPr>
            <p:spPr>
              <a:xfrm>
                <a:off x="6037211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5" name="Google Shape;485;p48"/>
              <p:cNvSpPr/>
              <p:nvPr/>
            </p:nvSpPr>
            <p:spPr>
              <a:xfrm>
                <a:off x="6175072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" name="Google Shape;486;p48"/>
              <p:cNvSpPr/>
              <p:nvPr/>
            </p:nvSpPr>
            <p:spPr>
              <a:xfrm>
                <a:off x="6312933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" name="Google Shape;487;p48"/>
              <p:cNvSpPr/>
              <p:nvPr/>
            </p:nvSpPr>
            <p:spPr>
              <a:xfrm>
                <a:off x="6450794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" name="Google Shape;488;p48"/>
              <p:cNvSpPr/>
              <p:nvPr/>
            </p:nvSpPr>
            <p:spPr>
              <a:xfrm>
                <a:off x="6588656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9" name="Google Shape;489;p48"/>
              <p:cNvSpPr/>
              <p:nvPr/>
            </p:nvSpPr>
            <p:spPr>
              <a:xfrm>
                <a:off x="6726517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48"/>
              <p:cNvSpPr/>
              <p:nvPr/>
            </p:nvSpPr>
            <p:spPr>
              <a:xfrm>
                <a:off x="6864378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" name="Google Shape;491;p48"/>
              <p:cNvSpPr/>
              <p:nvPr/>
            </p:nvSpPr>
            <p:spPr>
              <a:xfrm>
                <a:off x="7002239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2" name="Google Shape;492;p48"/>
              <p:cNvSpPr/>
              <p:nvPr/>
            </p:nvSpPr>
            <p:spPr>
              <a:xfrm>
                <a:off x="7140100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493" name="Google Shape;493;p48"/>
            <p:cNvSpPr txBox="1"/>
            <p:nvPr/>
          </p:nvSpPr>
          <p:spPr>
            <a:xfrm>
              <a:off x="6270350" y="3639935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App 1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4" name="Google Shape;494;p48"/>
            <p:cNvSpPr txBox="1"/>
            <p:nvPr/>
          </p:nvSpPr>
          <p:spPr>
            <a:xfrm>
              <a:off x="7026349" y="3639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</a:t>
              </a: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95" name="Google Shape;495;p48"/>
          <p:cNvGrpSpPr/>
          <p:nvPr/>
        </p:nvGrpSpPr>
        <p:grpSpPr>
          <a:xfrm>
            <a:off x="7673643" y="3639924"/>
            <a:ext cx="1188377" cy="265482"/>
            <a:chOff x="7673643" y="3639924"/>
            <a:chExt cx="1188377" cy="265482"/>
          </a:xfrm>
        </p:grpSpPr>
        <p:grpSp>
          <p:nvGrpSpPr>
            <p:cNvPr id="496" name="Google Shape;496;p48"/>
            <p:cNvGrpSpPr/>
            <p:nvPr/>
          </p:nvGrpSpPr>
          <p:grpSpPr>
            <a:xfrm>
              <a:off x="7673660" y="3825036"/>
              <a:ext cx="1188360" cy="80370"/>
              <a:chOff x="5899350" y="4265151"/>
              <a:chExt cx="1330750" cy="90000"/>
            </a:xfrm>
          </p:grpSpPr>
          <p:sp>
            <p:nvSpPr>
              <p:cNvPr id="497" name="Google Shape;497;p48"/>
              <p:cNvSpPr/>
              <p:nvPr/>
            </p:nvSpPr>
            <p:spPr>
              <a:xfrm>
                <a:off x="5899350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" name="Google Shape;498;p48"/>
              <p:cNvSpPr/>
              <p:nvPr/>
            </p:nvSpPr>
            <p:spPr>
              <a:xfrm>
                <a:off x="6037211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9" name="Google Shape;499;p48"/>
              <p:cNvSpPr/>
              <p:nvPr/>
            </p:nvSpPr>
            <p:spPr>
              <a:xfrm>
                <a:off x="6175072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0" name="Google Shape;500;p48"/>
              <p:cNvSpPr/>
              <p:nvPr/>
            </p:nvSpPr>
            <p:spPr>
              <a:xfrm>
                <a:off x="6312933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1" name="Google Shape;501;p48"/>
              <p:cNvSpPr/>
              <p:nvPr/>
            </p:nvSpPr>
            <p:spPr>
              <a:xfrm>
                <a:off x="6450794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2" name="Google Shape;502;p48"/>
              <p:cNvSpPr/>
              <p:nvPr/>
            </p:nvSpPr>
            <p:spPr>
              <a:xfrm>
                <a:off x="6588656" y="4265151"/>
                <a:ext cx="90000" cy="90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3" name="Google Shape;503;p48"/>
              <p:cNvSpPr/>
              <p:nvPr/>
            </p:nvSpPr>
            <p:spPr>
              <a:xfrm>
                <a:off x="6726517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4" name="Google Shape;504;p48"/>
              <p:cNvSpPr/>
              <p:nvPr/>
            </p:nvSpPr>
            <p:spPr>
              <a:xfrm>
                <a:off x="6864378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5" name="Google Shape;505;p48"/>
              <p:cNvSpPr/>
              <p:nvPr/>
            </p:nvSpPr>
            <p:spPr>
              <a:xfrm>
                <a:off x="7002239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6" name="Google Shape;506;p48"/>
              <p:cNvSpPr/>
              <p:nvPr/>
            </p:nvSpPr>
            <p:spPr>
              <a:xfrm>
                <a:off x="7140100" y="4265151"/>
                <a:ext cx="90000" cy="90000"/>
              </a:xfrm>
              <a:prstGeom prst="ellipse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07" name="Google Shape;507;p48"/>
            <p:cNvSpPr txBox="1"/>
            <p:nvPr/>
          </p:nvSpPr>
          <p:spPr>
            <a:xfrm>
              <a:off x="7673643" y="3639935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App 2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08" name="Google Shape;508;p48"/>
            <p:cNvSpPr txBox="1"/>
            <p:nvPr/>
          </p:nvSpPr>
          <p:spPr>
            <a:xfrm>
              <a:off x="8429642" y="3639924"/>
              <a:ext cx="43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00</a:t>
              </a: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%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09" name="Google Shape;509;p48"/>
          <p:cNvSpPr txBox="1"/>
          <p:nvPr/>
        </p:nvSpPr>
        <p:spPr>
          <a:xfrm>
            <a:off x="3003025" y="3392250"/>
            <a:ext cx="3026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Goals</a:t>
            </a:r>
            <a:endParaRPr sz="1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-1206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do they want to achieve?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do they care about?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06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﹣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solutions are they looking for?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4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4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A man listens to music on his headphones while standing outdoors. " id="512" name="Google Shape;512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771" l="0" r="0" t="11816"/>
          <a:stretch/>
        </p:blipFill>
        <p:spPr>
          <a:xfrm>
            <a:off x="0" y="1111925"/>
            <a:ext cx="2762400" cy="16533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oxy modern building with bright walls under a sunny sky." id="517" name="Google Shape;517;p49"/>
          <p:cNvPicPr preferRelativeResize="0"/>
          <p:nvPr/>
        </p:nvPicPr>
        <p:blipFill rotWithShape="1">
          <a:blip r:embed="rId3">
            <a:alphaModFix amt="90000"/>
          </a:blip>
          <a:srcRect b="29022" l="0" r="0" t="0"/>
          <a:stretch/>
        </p:blipFill>
        <p:spPr>
          <a:xfrm>
            <a:off x="-4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8" name="Google Shape;518;p49"/>
          <p:cNvCxnSpPr/>
          <p:nvPr/>
        </p:nvCxnSpPr>
        <p:spPr>
          <a:xfrm rot="10800000">
            <a:off x="285600" y="1621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49"/>
          <p:cNvSpPr txBox="1"/>
          <p:nvPr>
            <p:ph type="title"/>
          </p:nvPr>
        </p:nvSpPr>
        <p:spPr>
          <a:xfrm>
            <a:off x="276075" y="457200"/>
            <a:ext cx="85944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statement about what inspired this project: a challenge, a goal, a vision.</a:t>
            </a:r>
            <a:endParaRPr/>
          </a:p>
        </p:txBody>
      </p:sp>
      <p:sp>
        <p:nvSpPr>
          <p:cNvPr id="520" name="Google Shape;520;p4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49"/>
          <p:cNvSpPr txBox="1"/>
          <p:nvPr>
            <p:ph idx="2" type="body"/>
          </p:nvPr>
        </p:nvSpPr>
        <p:spPr>
          <a:xfrm>
            <a:off x="252300" y="1801500"/>
            <a:ext cx="4342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Think about your audience. Some will already know about the project; others will be hearing about it for the first time. This is your opportunity to make sure everyone is on the same page.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spy out-of-focus clouds under a solid blue sky. " id="526" name="Google Shape;526;p50"/>
          <p:cNvPicPr preferRelativeResize="0"/>
          <p:nvPr/>
        </p:nvPicPr>
        <p:blipFill rotWithShape="1">
          <a:blip r:embed="rId3">
            <a:alphaModFix/>
          </a:blip>
          <a:srcRect b="0" l="0" r="0" t="15604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0"/>
          <p:cNvSpPr/>
          <p:nvPr/>
        </p:nvSpPr>
        <p:spPr>
          <a:xfrm>
            <a:off x="5562200" y="3405450"/>
            <a:ext cx="3293700" cy="120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8" name="Google Shape;528;p50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roadmap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9" name="Google Shape;529;p50"/>
          <p:cNvSpPr txBox="1"/>
          <p:nvPr/>
        </p:nvSpPr>
        <p:spPr>
          <a:xfrm>
            <a:off x="3866788" y="2375963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01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30" name="Google Shape;530;p50"/>
          <p:cNvCxnSpPr/>
          <p:nvPr/>
        </p:nvCxnSpPr>
        <p:spPr>
          <a:xfrm>
            <a:off x="4640713" y="248367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" name="Google Shape;531;p50"/>
          <p:cNvSpPr txBox="1"/>
          <p:nvPr/>
        </p:nvSpPr>
        <p:spPr>
          <a:xfrm>
            <a:off x="6586338" y="2375963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02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32" name="Google Shape;532;p50"/>
          <p:cNvCxnSpPr/>
          <p:nvPr/>
        </p:nvCxnSpPr>
        <p:spPr>
          <a:xfrm>
            <a:off x="7397088" y="248367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50"/>
          <p:cNvSpPr txBox="1"/>
          <p:nvPr/>
        </p:nvSpPr>
        <p:spPr>
          <a:xfrm>
            <a:off x="284988" y="3576650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03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34" name="Google Shape;534;p50"/>
          <p:cNvCxnSpPr/>
          <p:nvPr/>
        </p:nvCxnSpPr>
        <p:spPr>
          <a:xfrm>
            <a:off x="1058913" y="3684363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50"/>
          <p:cNvSpPr txBox="1"/>
          <p:nvPr/>
        </p:nvSpPr>
        <p:spPr>
          <a:xfrm>
            <a:off x="3004538" y="3576650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04</a:t>
            </a:r>
            <a:endParaRPr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36" name="Google Shape;536;p50"/>
          <p:cNvCxnSpPr/>
          <p:nvPr/>
        </p:nvCxnSpPr>
        <p:spPr>
          <a:xfrm>
            <a:off x="3815288" y="3684363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50"/>
          <p:cNvSpPr txBox="1"/>
          <p:nvPr/>
        </p:nvSpPr>
        <p:spPr>
          <a:xfrm>
            <a:off x="5724088" y="3573317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Goal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538" name="Google Shape;538;p50"/>
          <p:cNvSpPr txBox="1"/>
          <p:nvPr/>
        </p:nvSpPr>
        <p:spPr>
          <a:xfrm>
            <a:off x="3868200" y="2716300"/>
            <a:ext cx="18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steps must the team </a:t>
            </a:r>
            <a:b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take in order to reach their business goals?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9" name="Google Shape;539;p50"/>
          <p:cNvSpPr txBox="1"/>
          <p:nvPr/>
        </p:nvSpPr>
        <p:spPr>
          <a:xfrm>
            <a:off x="6586350" y="2716300"/>
            <a:ext cx="17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Remember, this is a high-level summary. Focus on key milestones.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0" name="Google Shape;540;p50"/>
          <p:cNvSpPr txBox="1"/>
          <p:nvPr/>
        </p:nvSpPr>
        <p:spPr>
          <a:xfrm>
            <a:off x="285000" y="3933675"/>
            <a:ext cx="16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example, mention the project kickoff, the first delivery, go-live day, etc.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" name="Google Shape;541;p50"/>
          <p:cNvSpPr txBox="1"/>
          <p:nvPr/>
        </p:nvSpPr>
        <p:spPr>
          <a:xfrm>
            <a:off x="3004550" y="3933675"/>
            <a:ext cx="15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can also describe phases like strategy, concepting, etc.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50"/>
          <p:cNvSpPr txBox="1"/>
          <p:nvPr/>
        </p:nvSpPr>
        <p:spPr>
          <a:xfrm>
            <a:off x="5724100" y="3930342"/>
            <a:ext cx="18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Finally, describe what needs to happen for the project to reach its conclusion.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3" name="Google Shape;543;p50"/>
          <p:cNvGrpSpPr/>
          <p:nvPr/>
        </p:nvGrpSpPr>
        <p:grpSpPr>
          <a:xfrm>
            <a:off x="281963" y="2203375"/>
            <a:ext cx="8577038" cy="2404150"/>
            <a:chOff x="281963" y="2203375"/>
            <a:chExt cx="8577038" cy="2404150"/>
          </a:xfrm>
        </p:grpSpPr>
        <p:cxnSp>
          <p:nvCxnSpPr>
            <p:cNvPr id="544" name="Google Shape;544;p50"/>
            <p:cNvCxnSpPr/>
            <p:nvPr/>
          </p:nvCxnSpPr>
          <p:spPr>
            <a:xfrm rot="10800000">
              <a:off x="285000" y="4607525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50"/>
            <p:cNvCxnSpPr/>
            <p:nvPr/>
          </p:nvCxnSpPr>
          <p:spPr>
            <a:xfrm rot="10800000">
              <a:off x="282975" y="3405450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50"/>
            <p:cNvCxnSpPr/>
            <p:nvPr/>
          </p:nvCxnSpPr>
          <p:spPr>
            <a:xfrm rot="10800000">
              <a:off x="281963" y="2203375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7" name="Google Shape;547;p5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Company Name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8" name="Google Shape;548;p5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1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554" name="Google Shape;554;p5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5" name="Google Shape;555;p5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56" name="Google Shape;556;p51"/>
          <p:cNvSpPr/>
          <p:nvPr/>
        </p:nvSpPr>
        <p:spPr>
          <a:xfrm>
            <a:off x="5562200" y="3405450"/>
            <a:ext cx="3293700" cy="120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51"/>
          <p:cNvSpPr txBox="1"/>
          <p:nvPr/>
        </p:nvSpPr>
        <p:spPr>
          <a:xfrm>
            <a:off x="6586338" y="2380175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02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58" name="Google Shape;558;p51"/>
          <p:cNvCxnSpPr/>
          <p:nvPr/>
        </p:nvCxnSpPr>
        <p:spPr>
          <a:xfrm>
            <a:off x="7397098" y="2487875"/>
            <a:ext cx="146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51"/>
          <p:cNvSpPr txBox="1"/>
          <p:nvPr/>
        </p:nvSpPr>
        <p:spPr>
          <a:xfrm>
            <a:off x="284988" y="3573912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03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60" name="Google Shape;560;p51"/>
          <p:cNvCxnSpPr/>
          <p:nvPr/>
        </p:nvCxnSpPr>
        <p:spPr>
          <a:xfrm>
            <a:off x="1058913" y="368162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51"/>
          <p:cNvSpPr txBox="1"/>
          <p:nvPr/>
        </p:nvSpPr>
        <p:spPr>
          <a:xfrm>
            <a:off x="3004538" y="3573912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04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62" name="Google Shape;562;p51"/>
          <p:cNvCxnSpPr/>
          <p:nvPr/>
        </p:nvCxnSpPr>
        <p:spPr>
          <a:xfrm>
            <a:off x="3815288" y="3681625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" name="Google Shape;563;p51"/>
          <p:cNvSpPr txBox="1"/>
          <p:nvPr/>
        </p:nvSpPr>
        <p:spPr>
          <a:xfrm>
            <a:off x="5724088" y="3573912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Goal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564" name="Google Shape;564;p51"/>
          <p:cNvSpPr txBox="1"/>
          <p:nvPr/>
        </p:nvSpPr>
        <p:spPr>
          <a:xfrm>
            <a:off x="3866788" y="2380175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Step 01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565" name="Google Shape;565;p51"/>
          <p:cNvCxnSpPr/>
          <p:nvPr/>
        </p:nvCxnSpPr>
        <p:spPr>
          <a:xfrm>
            <a:off x="4640713" y="2487887"/>
            <a:ext cx="1746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" name="Google Shape;566;p51"/>
          <p:cNvSpPr txBox="1"/>
          <p:nvPr/>
        </p:nvSpPr>
        <p:spPr>
          <a:xfrm>
            <a:off x="3868200" y="2720512"/>
            <a:ext cx="18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steps must the team </a:t>
            </a:r>
            <a:b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take in order to reach their business goals?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" name="Google Shape;567;p51"/>
          <p:cNvSpPr txBox="1"/>
          <p:nvPr/>
        </p:nvSpPr>
        <p:spPr>
          <a:xfrm>
            <a:off x="6586350" y="2720512"/>
            <a:ext cx="17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Remember, this is a high-level summary. Focus on key milestones.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" name="Google Shape;568;p51"/>
          <p:cNvSpPr txBox="1"/>
          <p:nvPr/>
        </p:nvSpPr>
        <p:spPr>
          <a:xfrm>
            <a:off x="285000" y="3930937"/>
            <a:ext cx="16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 example, mention the project kickoff, the first delivery, go-live day, etc.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51"/>
          <p:cNvSpPr txBox="1"/>
          <p:nvPr/>
        </p:nvSpPr>
        <p:spPr>
          <a:xfrm>
            <a:off x="3004550" y="3930937"/>
            <a:ext cx="15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 can also describe phases like strategy, concepting, etc.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51"/>
          <p:cNvSpPr txBox="1"/>
          <p:nvPr/>
        </p:nvSpPr>
        <p:spPr>
          <a:xfrm>
            <a:off x="5724100" y="3930937"/>
            <a:ext cx="18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Finally, describe what needs to happen for the project to reach its conclusion.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1" name="Google Shape;571;p51"/>
          <p:cNvCxnSpPr/>
          <p:nvPr/>
        </p:nvCxnSpPr>
        <p:spPr>
          <a:xfrm rot="10800000">
            <a:off x="285000" y="4607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51"/>
          <p:cNvCxnSpPr/>
          <p:nvPr/>
        </p:nvCxnSpPr>
        <p:spPr>
          <a:xfrm rot="10800000">
            <a:off x="282975" y="3405450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51"/>
          <p:cNvCxnSpPr/>
          <p:nvPr/>
        </p:nvCxnSpPr>
        <p:spPr>
          <a:xfrm rot="10800000">
            <a:off x="281963" y="220337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2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oof of a modern building underneath a sunny blue sky. " id="578" name="Google Shape;578;p52"/>
          <p:cNvPicPr preferRelativeResize="0"/>
          <p:nvPr/>
        </p:nvPicPr>
        <p:blipFill rotWithShape="1">
          <a:blip r:embed="rId3">
            <a:alphaModFix/>
          </a:blip>
          <a:srcRect b="56374" l="0" r="0" t="6107"/>
          <a:stretch/>
        </p:blipFill>
        <p:spPr>
          <a:xfrm>
            <a:off x="-2" y="-1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2"/>
          <p:cNvSpPr/>
          <p:nvPr/>
        </p:nvSpPr>
        <p:spPr>
          <a:xfrm>
            <a:off x="284700" y="1352850"/>
            <a:ext cx="1667100" cy="138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0" name="Google Shape;580;p52"/>
          <p:cNvSpPr/>
          <p:nvPr/>
        </p:nvSpPr>
        <p:spPr>
          <a:xfrm>
            <a:off x="2588150" y="1352850"/>
            <a:ext cx="1667100" cy="138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1" name="Google Shape;581;p52"/>
          <p:cNvSpPr/>
          <p:nvPr/>
        </p:nvSpPr>
        <p:spPr>
          <a:xfrm>
            <a:off x="4891600" y="1352850"/>
            <a:ext cx="1667100" cy="138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" name="Google Shape;582;p52"/>
          <p:cNvSpPr/>
          <p:nvPr/>
        </p:nvSpPr>
        <p:spPr>
          <a:xfrm>
            <a:off x="7195050" y="1352850"/>
            <a:ext cx="1667100" cy="138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3" name="Google Shape;58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9175" y="1335025"/>
            <a:ext cx="521600" cy="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625" y="1335025"/>
            <a:ext cx="521600" cy="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6075" y="1335025"/>
            <a:ext cx="521600" cy="5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2"/>
          <p:cNvSpPr txBox="1"/>
          <p:nvPr>
            <p:ph type="title"/>
          </p:nvPr>
        </p:nvSpPr>
        <p:spPr>
          <a:xfrm>
            <a:off x="276075" y="45720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roadmap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7" name="Google Shape;587;p5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88" name="Google Shape;588;p5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9" name="Google Shape;589;p52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01</a:t>
            </a:r>
            <a:endParaRPr/>
          </a:p>
        </p:txBody>
      </p:sp>
      <p:sp>
        <p:nvSpPr>
          <p:cNvPr id="590" name="Google Shape;590;p52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What steps must the team take in order to reach their business goals?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2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02</a:t>
            </a:r>
            <a:endParaRPr/>
          </a:p>
        </p:txBody>
      </p:sp>
      <p:sp>
        <p:nvSpPr>
          <p:cNvPr id="592" name="Google Shape;592;p52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Remember, this is a high-level summary. Focus on key milestones.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52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</a:t>
            </a:r>
            <a:r>
              <a:rPr lang="en"/>
              <a:t>3</a:t>
            </a:r>
            <a:endParaRPr/>
          </a:p>
        </p:txBody>
      </p:sp>
      <p:sp>
        <p:nvSpPr>
          <p:cNvPr id="594" name="Google Shape;594;p52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mention the project kickoff, the first delivery, go-live day, etc. </a:t>
            </a:r>
            <a:endParaRPr/>
          </a:p>
        </p:txBody>
      </p:sp>
      <p:sp>
        <p:nvSpPr>
          <p:cNvPr id="595" name="Google Shape;595;p52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0</a:t>
            </a:r>
            <a:r>
              <a:rPr lang="en">
                <a:solidFill>
                  <a:schemeClr val="dk1"/>
                </a:solidFill>
              </a:rPr>
              <a:t>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6" name="Google Shape;596;p52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Finally, describe what needs to happen for the project to reach its conclusion.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3"/>
          <p:cNvSpPr/>
          <p:nvPr/>
        </p:nvSpPr>
        <p:spPr>
          <a:xfrm>
            <a:off x="0" y="457200"/>
            <a:ext cx="652500" cy="3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" name="Google Shape;602;p53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03" name="Google Shape;603;p53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Facing the challenges </a:t>
            </a:r>
            <a:r>
              <a:rPr lang="en"/>
              <a:t>ahead</a:t>
            </a:r>
            <a:endParaRPr/>
          </a:p>
        </p:txBody>
      </p:sp>
      <p:sp>
        <p:nvSpPr>
          <p:cNvPr id="604" name="Google Shape;604;p53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project.</a:t>
            </a:r>
            <a:endParaRPr/>
          </a:p>
        </p:txBody>
      </p:sp>
      <p:sp>
        <p:nvSpPr>
          <p:cNvPr id="605" name="Google Shape;605;p53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we'll address this challenge:</a:t>
            </a:r>
            <a:endParaRPr/>
          </a:p>
        </p:txBody>
      </p:sp>
      <p:sp>
        <p:nvSpPr>
          <p:cNvPr id="606" name="Google Shape;606;p53"/>
          <p:cNvSpPr txBox="1"/>
          <p:nvPr>
            <p:ph idx="3" type="body"/>
          </p:nvPr>
        </p:nvSpPr>
        <p:spPr>
          <a:xfrm>
            <a:off x="3074775" y="1873600"/>
            <a:ext cx="15135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607" name="Google Shape;607;p53"/>
          <p:cNvSpPr txBox="1"/>
          <p:nvPr>
            <p:ph idx="5" type="body"/>
          </p:nvPr>
        </p:nvSpPr>
        <p:spPr>
          <a:xfrm>
            <a:off x="4882875" y="1873600"/>
            <a:ext cx="15135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608" name="Google Shape;608;p53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09" name="Google Shape;609;p53"/>
          <p:cNvSpPr txBox="1"/>
          <p:nvPr>
            <p:ph idx="7" type="body"/>
          </p:nvPr>
        </p:nvSpPr>
        <p:spPr>
          <a:xfrm>
            <a:off x="6690975" y="1873600"/>
            <a:ext cx="15135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</a:t>
            </a:r>
            <a:r>
              <a:rPr lang="en"/>
              <a:t>how the team will mitigate this challenge, step by step. Be specific and actionable.</a:t>
            </a:r>
            <a:endParaRPr/>
          </a:p>
        </p:txBody>
      </p:sp>
      <p:sp>
        <p:nvSpPr>
          <p:cNvPr id="610" name="Google Shape;610;p53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11" name="Google Shape;611;p53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descr="An architectural detail of a modern glass building." id="612" name="Google Shape;612;p53"/>
          <p:cNvPicPr preferRelativeResize="0"/>
          <p:nvPr/>
        </p:nvPicPr>
        <p:blipFill rotWithShape="1">
          <a:blip r:embed="rId3">
            <a:alphaModFix/>
          </a:blip>
          <a:srcRect b="11872" l="0" r="0" t="11872"/>
          <a:stretch/>
        </p:blipFill>
        <p:spPr>
          <a:xfrm>
            <a:off x="0" y="3991450"/>
            <a:ext cx="2266147" cy="115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2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4"/>
          <p:cNvSpPr txBox="1"/>
          <p:nvPr/>
        </p:nvSpPr>
        <p:spPr>
          <a:xfrm>
            <a:off x="556024" y="1834075"/>
            <a:ext cx="152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Briefing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Meeting minutes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Concept deck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Comms plan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Image library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" name="Google Shape;618;p54"/>
          <p:cNvSpPr txBox="1"/>
          <p:nvPr/>
        </p:nvSpPr>
        <p:spPr>
          <a:xfrm>
            <a:off x="556018" y="1456075"/>
            <a:ext cx="36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Links to key files and documents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19" name="Google Shape;619;p54"/>
          <p:cNvCxnSpPr/>
          <p:nvPr/>
        </p:nvCxnSpPr>
        <p:spPr>
          <a:xfrm>
            <a:off x="284696" y="1568967"/>
            <a:ext cx="10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54"/>
          <p:cNvSpPr txBox="1"/>
          <p:nvPr/>
        </p:nvSpPr>
        <p:spPr>
          <a:xfrm>
            <a:off x="555999" y="345615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" name="Google Shape;621;p54"/>
          <p:cNvSpPr txBox="1"/>
          <p:nvPr/>
        </p:nvSpPr>
        <p:spPr>
          <a:xfrm>
            <a:off x="555988" y="3093864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Contact list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cxnSp>
        <p:nvCxnSpPr>
          <p:cNvPr id="622" name="Google Shape;622;p54"/>
          <p:cNvCxnSpPr/>
          <p:nvPr/>
        </p:nvCxnSpPr>
        <p:spPr>
          <a:xfrm>
            <a:off x="284696" y="3210032"/>
            <a:ext cx="10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54"/>
          <p:cNvCxnSpPr/>
          <p:nvPr/>
        </p:nvCxnSpPr>
        <p:spPr>
          <a:xfrm>
            <a:off x="284696" y="352738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54"/>
          <p:cNvSpPr txBox="1"/>
          <p:nvPr/>
        </p:nvSpPr>
        <p:spPr>
          <a:xfrm>
            <a:off x="2223149" y="1834075"/>
            <a:ext cx="152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Brand assets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Style guides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Case studies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White paper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5" name="Google Shape;625;p54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626" name="Google Shape;626;p54"/>
          <p:cNvSpPr txBox="1"/>
          <p:nvPr/>
        </p:nvSpPr>
        <p:spPr>
          <a:xfrm>
            <a:off x="3890274" y="1834075"/>
            <a:ext cx="152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7" name="Google Shape;627;p54"/>
          <p:cNvSpPr txBox="1"/>
          <p:nvPr/>
        </p:nvSpPr>
        <p:spPr>
          <a:xfrm>
            <a:off x="555999" y="422100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28" name="Google Shape;628;p54"/>
          <p:cNvCxnSpPr/>
          <p:nvPr/>
        </p:nvCxnSpPr>
        <p:spPr>
          <a:xfrm>
            <a:off x="284696" y="429223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54"/>
          <p:cNvSpPr txBox="1"/>
          <p:nvPr/>
        </p:nvSpPr>
        <p:spPr>
          <a:xfrm>
            <a:off x="2494449" y="345615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0" name="Google Shape;630;p54"/>
          <p:cNvCxnSpPr/>
          <p:nvPr/>
        </p:nvCxnSpPr>
        <p:spPr>
          <a:xfrm>
            <a:off x="2223146" y="352738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54"/>
          <p:cNvSpPr txBox="1"/>
          <p:nvPr/>
        </p:nvSpPr>
        <p:spPr>
          <a:xfrm>
            <a:off x="2494449" y="422100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2" name="Google Shape;632;p54"/>
          <p:cNvCxnSpPr/>
          <p:nvPr/>
        </p:nvCxnSpPr>
        <p:spPr>
          <a:xfrm>
            <a:off x="2223146" y="429223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54"/>
          <p:cNvSpPr txBox="1"/>
          <p:nvPr/>
        </p:nvSpPr>
        <p:spPr>
          <a:xfrm>
            <a:off x="4432899" y="345615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4" name="Google Shape;634;p54"/>
          <p:cNvCxnSpPr/>
          <p:nvPr/>
        </p:nvCxnSpPr>
        <p:spPr>
          <a:xfrm>
            <a:off x="4161596" y="352738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54"/>
          <p:cNvSpPr txBox="1"/>
          <p:nvPr/>
        </p:nvSpPr>
        <p:spPr>
          <a:xfrm>
            <a:off x="4432899" y="4221000"/>
            <a:ext cx="15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Full Name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6" name="Google Shape;636;p54"/>
          <p:cNvCxnSpPr/>
          <p:nvPr/>
        </p:nvCxnSpPr>
        <p:spPr>
          <a:xfrm>
            <a:off x="4161596" y="4292233"/>
            <a:ext cx="10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glass skyscraper under a blue sky. " id="637" name="Google Shape;637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914" r="30854" t="0"/>
          <a:stretch/>
        </p:blipFill>
        <p:spPr>
          <a:xfrm>
            <a:off x="6877724" y="0"/>
            <a:ext cx="2266199" cy="3405001"/>
          </a:xfrm>
          <a:prstGeom prst="rect">
            <a:avLst/>
          </a:prstGeom>
        </p:spPr>
      </p:pic>
      <p:sp>
        <p:nvSpPr>
          <p:cNvPr id="638" name="Google Shape;638;p5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9" name="Google Shape;639;p5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4" name="Google Shape;644;p55"/>
          <p:cNvCxnSpPr/>
          <p:nvPr/>
        </p:nvCxnSpPr>
        <p:spPr>
          <a:xfrm rot="10800000">
            <a:off x="282995" y="17941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55"/>
          <p:cNvCxnSpPr/>
          <p:nvPr/>
        </p:nvCxnSpPr>
        <p:spPr>
          <a:xfrm rot="10800000">
            <a:off x="282995" y="27319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55"/>
          <p:cNvCxnSpPr/>
          <p:nvPr/>
        </p:nvCxnSpPr>
        <p:spPr>
          <a:xfrm rot="10800000">
            <a:off x="283720" y="36697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55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55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step 1 here</a:t>
            </a:r>
            <a:endParaRPr/>
          </a:p>
        </p:txBody>
      </p:sp>
      <p:sp>
        <p:nvSpPr>
          <p:cNvPr id="649" name="Google Shape;649;p55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650" name="Google Shape;650;p55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51" name="Google Shape;651;p55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upcoming phase in the marketing plan or campaign.</a:t>
            </a:r>
            <a:endParaRPr/>
          </a:p>
        </p:txBody>
      </p:sp>
      <p:sp>
        <p:nvSpPr>
          <p:cNvPr id="652" name="Google Shape;652;p55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53" name="Google Shape;653;p55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step 2 here</a:t>
            </a:r>
            <a:endParaRPr/>
          </a:p>
        </p:txBody>
      </p:sp>
      <p:sp>
        <p:nvSpPr>
          <p:cNvPr id="654" name="Google Shape;654;p55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can include further deliverables, check-ins, extensions of the current campaign, etc.</a:t>
            </a:r>
            <a:endParaRPr/>
          </a:p>
        </p:txBody>
      </p:sp>
      <p:sp>
        <p:nvSpPr>
          <p:cNvPr id="655" name="Google Shape;655;p55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56" name="Google Shape;656;p55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step 3 here</a:t>
            </a:r>
            <a:endParaRPr/>
          </a:p>
        </p:txBody>
      </p:sp>
      <p:sp>
        <p:nvSpPr>
          <p:cNvPr id="657" name="Google Shape;657;p55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steps as you want. Duplicate this slide if you need more.</a:t>
            </a:r>
            <a:endParaRPr/>
          </a:p>
        </p:txBody>
      </p:sp>
      <p:sp>
        <p:nvSpPr>
          <p:cNvPr id="658" name="Google Shape;658;p55"/>
          <p:cNvSpPr/>
          <p:nvPr/>
        </p:nvSpPr>
        <p:spPr>
          <a:xfrm>
            <a:off x="283000" y="1898750"/>
            <a:ext cx="669000" cy="19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We’re here!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55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0" name="Google Shape;660;p55"/>
          <p:cNvSpPr txBox="1"/>
          <p:nvPr/>
        </p:nvSpPr>
        <p:spPr>
          <a:xfrm>
            <a:off x="276075" y="4815950"/>
            <a:ext cx="201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Company Name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6"/>
          <p:cNvSpPr txBox="1"/>
          <p:nvPr>
            <p:ph type="title"/>
          </p:nvPr>
        </p:nvSpPr>
        <p:spPr>
          <a:xfrm>
            <a:off x="276075" y="457200"/>
            <a:ext cx="85944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RACI m</a:t>
            </a:r>
            <a:r>
              <a:rPr lang="en"/>
              <a:t>atrix</a:t>
            </a:r>
            <a:r>
              <a:rPr lang="en"/>
              <a:t>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</a:t>
            </a:r>
            <a:endParaRPr/>
          </a:p>
        </p:txBody>
      </p:sp>
      <p:grpSp>
        <p:nvGrpSpPr>
          <p:cNvPr id="666" name="Google Shape;666;p56"/>
          <p:cNvGrpSpPr/>
          <p:nvPr/>
        </p:nvGrpSpPr>
        <p:grpSpPr>
          <a:xfrm>
            <a:off x="5539774" y="285300"/>
            <a:ext cx="3313741" cy="342802"/>
            <a:chOff x="5539774" y="285300"/>
            <a:chExt cx="3313741" cy="342802"/>
          </a:xfrm>
        </p:grpSpPr>
        <p:sp>
          <p:nvSpPr>
            <p:cNvPr id="667" name="Google Shape;667;p56"/>
            <p:cNvSpPr/>
            <p:nvPr/>
          </p:nvSpPr>
          <p:spPr>
            <a:xfrm>
              <a:off x="5539779" y="285300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68" name="Google Shape;668;p56"/>
            <p:cNvSpPr/>
            <p:nvPr/>
          </p:nvSpPr>
          <p:spPr>
            <a:xfrm>
              <a:off x="5539774" y="513502"/>
              <a:ext cx="7188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Responsible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69" name="Google Shape;669;p56"/>
            <p:cNvSpPr/>
            <p:nvPr/>
          </p:nvSpPr>
          <p:spPr>
            <a:xfrm>
              <a:off x="6380975" y="285303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0" name="Google Shape;670;p56"/>
            <p:cNvSpPr/>
            <p:nvPr/>
          </p:nvSpPr>
          <p:spPr>
            <a:xfrm>
              <a:off x="6380970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Accountable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1" name="Google Shape;671;p56"/>
            <p:cNvSpPr/>
            <p:nvPr/>
          </p:nvSpPr>
          <p:spPr>
            <a:xfrm>
              <a:off x="7236405" y="285303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2" name="Google Shape;672;p56"/>
            <p:cNvSpPr/>
            <p:nvPr/>
          </p:nvSpPr>
          <p:spPr>
            <a:xfrm>
              <a:off x="7236400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Consulted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3" name="Google Shape;673;p56"/>
            <p:cNvSpPr/>
            <p:nvPr/>
          </p:nvSpPr>
          <p:spPr>
            <a:xfrm>
              <a:off x="8091820" y="285303"/>
              <a:ext cx="206400" cy="17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4" name="Google Shape;674;p56"/>
            <p:cNvSpPr/>
            <p:nvPr/>
          </p:nvSpPr>
          <p:spPr>
            <a:xfrm>
              <a:off x="8091815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Informed 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A 3D render of abstract modern architecture with pristine white walls. " id="675" name="Google Shape;675;p56"/>
          <p:cNvPicPr preferRelativeResize="0"/>
          <p:nvPr/>
        </p:nvPicPr>
        <p:blipFill rotWithShape="1">
          <a:blip r:embed="rId3">
            <a:alphaModFix/>
          </a:blip>
          <a:srcRect b="40720" l="22948" r="22953" t="34250"/>
          <a:stretch/>
        </p:blipFill>
        <p:spPr>
          <a:xfrm>
            <a:off x="5540000" y="913850"/>
            <a:ext cx="3320049" cy="11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7" name="Google Shape;677;p56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grpSp>
        <p:nvGrpSpPr>
          <p:cNvPr id="678" name="Google Shape;678;p56"/>
          <p:cNvGrpSpPr/>
          <p:nvPr/>
        </p:nvGrpSpPr>
        <p:grpSpPr>
          <a:xfrm>
            <a:off x="283125" y="2553350"/>
            <a:ext cx="8577741" cy="2065077"/>
            <a:chOff x="283125" y="2553350"/>
            <a:chExt cx="8577741" cy="2065077"/>
          </a:xfrm>
        </p:grpSpPr>
        <p:grpSp>
          <p:nvGrpSpPr>
            <p:cNvPr id="679" name="Google Shape;679;p56"/>
            <p:cNvGrpSpPr/>
            <p:nvPr/>
          </p:nvGrpSpPr>
          <p:grpSpPr>
            <a:xfrm>
              <a:off x="283133" y="2553350"/>
              <a:ext cx="8577733" cy="2053503"/>
              <a:chOff x="282633" y="2553525"/>
              <a:chExt cx="8577733" cy="2053503"/>
            </a:xfrm>
          </p:grpSpPr>
          <p:cxnSp>
            <p:nvCxnSpPr>
              <p:cNvPr id="680" name="Google Shape;680;p56"/>
              <p:cNvCxnSpPr/>
              <p:nvPr/>
            </p:nvCxnSpPr>
            <p:spPr>
              <a:xfrm rot="10800000">
                <a:off x="282633" y="25535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56"/>
              <p:cNvCxnSpPr/>
              <p:nvPr/>
            </p:nvCxnSpPr>
            <p:spPr>
              <a:xfrm rot="10800000">
                <a:off x="282633" y="2890797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2" name="Google Shape;682;p56"/>
              <p:cNvCxnSpPr/>
              <p:nvPr/>
            </p:nvCxnSpPr>
            <p:spPr>
              <a:xfrm rot="10800000">
                <a:off x="282633" y="323716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3" name="Google Shape;683;p56"/>
              <p:cNvCxnSpPr/>
              <p:nvPr/>
            </p:nvCxnSpPr>
            <p:spPr>
              <a:xfrm rot="10800000">
                <a:off x="282633" y="3573566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56"/>
              <p:cNvCxnSpPr/>
              <p:nvPr/>
            </p:nvCxnSpPr>
            <p:spPr>
              <a:xfrm rot="10800000">
                <a:off x="282633" y="3922094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56"/>
              <p:cNvCxnSpPr/>
              <p:nvPr/>
            </p:nvCxnSpPr>
            <p:spPr>
              <a:xfrm rot="10800000">
                <a:off x="282633" y="4269757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" name="Google Shape;686;p56"/>
              <p:cNvCxnSpPr/>
              <p:nvPr/>
            </p:nvCxnSpPr>
            <p:spPr>
              <a:xfrm rot="10800000">
                <a:off x="283066" y="4607028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87" name="Google Shape;687;p56"/>
            <p:cNvSpPr txBox="1"/>
            <p:nvPr/>
          </p:nvSpPr>
          <p:spPr>
            <a:xfrm>
              <a:off x="2079300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1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688" name="Google Shape;688;p56"/>
            <p:cNvSpPr txBox="1"/>
            <p:nvPr/>
          </p:nvSpPr>
          <p:spPr>
            <a:xfrm>
              <a:off x="3838025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2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689" name="Google Shape;689;p56"/>
            <p:cNvSpPr txBox="1"/>
            <p:nvPr/>
          </p:nvSpPr>
          <p:spPr>
            <a:xfrm>
              <a:off x="5615975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3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690" name="Google Shape;690;p56"/>
            <p:cNvSpPr txBox="1"/>
            <p:nvPr/>
          </p:nvSpPr>
          <p:spPr>
            <a:xfrm>
              <a:off x="7366750" y="2553350"/>
              <a:ext cx="653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Name 4</a:t>
              </a:r>
              <a:endParaRPr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descr="A chart showing who is responsible, accountable, consulted, and informed in regard to project tasks and stages. " id="691" name="Google Shape;691;p56"/>
            <p:cNvSpPr txBox="1"/>
            <p:nvPr/>
          </p:nvSpPr>
          <p:spPr>
            <a:xfrm>
              <a:off x="283125" y="289205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1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2" name="Google Shape;692;p56"/>
            <p:cNvSpPr txBox="1"/>
            <p:nvPr/>
          </p:nvSpPr>
          <p:spPr>
            <a:xfrm>
              <a:off x="2279547" y="2898625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3" name="Google Shape;693;p56"/>
            <p:cNvSpPr txBox="1"/>
            <p:nvPr/>
          </p:nvSpPr>
          <p:spPr>
            <a:xfrm>
              <a:off x="7566997" y="2885475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4" name="Google Shape;694;p56"/>
            <p:cNvSpPr txBox="1"/>
            <p:nvPr/>
          </p:nvSpPr>
          <p:spPr>
            <a:xfrm>
              <a:off x="5816234" y="2892050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5" name="Google Shape;695;p56"/>
            <p:cNvSpPr txBox="1"/>
            <p:nvPr/>
          </p:nvSpPr>
          <p:spPr>
            <a:xfrm>
              <a:off x="4038275" y="2898625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6" name="Google Shape;696;p56"/>
            <p:cNvSpPr txBox="1"/>
            <p:nvPr/>
          </p:nvSpPr>
          <p:spPr>
            <a:xfrm>
              <a:off x="283125" y="324390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2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7" name="Google Shape;697;p56"/>
            <p:cNvSpPr txBox="1"/>
            <p:nvPr/>
          </p:nvSpPr>
          <p:spPr>
            <a:xfrm>
              <a:off x="2279547" y="32499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8" name="Google Shape;698;p56"/>
            <p:cNvSpPr txBox="1"/>
            <p:nvPr/>
          </p:nvSpPr>
          <p:spPr>
            <a:xfrm>
              <a:off x="7566997" y="323677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99" name="Google Shape;699;p56"/>
            <p:cNvSpPr txBox="1"/>
            <p:nvPr/>
          </p:nvSpPr>
          <p:spPr>
            <a:xfrm>
              <a:off x="5816234" y="324335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0" name="Google Shape;700;p56"/>
            <p:cNvSpPr txBox="1"/>
            <p:nvPr/>
          </p:nvSpPr>
          <p:spPr>
            <a:xfrm>
              <a:off x="4038275" y="32499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1" name="Google Shape;701;p56"/>
            <p:cNvSpPr txBox="1"/>
            <p:nvPr/>
          </p:nvSpPr>
          <p:spPr>
            <a:xfrm>
              <a:off x="283125" y="358260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3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2" name="Google Shape;702;p56"/>
            <p:cNvSpPr txBox="1"/>
            <p:nvPr/>
          </p:nvSpPr>
          <p:spPr>
            <a:xfrm>
              <a:off x="2279547" y="358260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3" name="Google Shape;703;p56"/>
            <p:cNvSpPr txBox="1"/>
            <p:nvPr/>
          </p:nvSpPr>
          <p:spPr>
            <a:xfrm>
              <a:off x="7566997" y="356945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4" name="Google Shape;704;p56"/>
            <p:cNvSpPr txBox="1"/>
            <p:nvPr/>
          </p:nvSpPr>
          <p:spPr>
            <a:xfrm>
              <a:off x="5816234" y="35760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5" name="Google Shape;705;p56"/>
            <p:cNvSpPr txBox="1"/>
            <p:nvPr/>
          </p:nvSpPr>
          <p:spPr>
            <a:xfrm>
              <a:off x="4038275" y="358260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6" name="Google Shape;706;p56"/>
            <p:cNvSpPr txBox="1"/>
            <p:nvPr/>
          </p:nvSpPr>
          <p:spPr>
            <a:xfrm>
              <a:off x="283125" y="392130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4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7" name="Google Shape;707;p56"/>
            <p:cNvSpPr txBox="1"/>
            <p:nvPr/>
          </p:nvSpPr>
          <p:spPr>
            <a:xfrm>
              <a:off x="2279547" y="3938474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8" name="Google Shape;708;p56"/>
            <p:cNvSpPr txBox="1"/>
            <p:nvPr/>
          </p:nvSpPr>
          <p:spPr>
            <a:xfrm>
              <a:off x="7566997" y="3925324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9" name="Google Shape;709;p56"/>
            <p:cNvSpPr txBox="1"/>
            <p:nvPr/>
          </p:nvSpPr>
          <p:spPr>
            <a:xfrm>
              <a:off x="5816234" y="3931899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10" name="Google Shape;710;p56"/>
            <p:cNvSpPr txBox="1"/>
            <p:nvPr/>
          </p:nvSpPr>
          <p:spPr>
            <a:xfrm>
              <a:off x="4038275" y="3938474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11" name="Google Shape;711;p56"/>
            <p:cNvSpPr txBox="1"/>
            <p:nvPr/>
          </p:nvSpPr>
          <p:spPr>
            <a:xfrm>
              <a:off x="283125" y="4273150"/>
              <a:ext cx="103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Project stage 5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12" name="Google Shape;712;p56"/>
            <p:cNvSpPr txBox="1"/>
            <p:nvPr/>
          </p:nvSpPr>
          <p:spPr>
            <a:xfrm>
              <a:off x="2279547" y="42797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13" name="Google Shape;713;p56"/>
            <p:cNvSpPr txBox="1"/>
            <p:nvPr/>
          </p:nvSpPr>
          <p:spPr>
            <a:xfrm>
              <a:off x="7566997" y="426657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14" name="Google Shape;714;p56"/>
            <p:cNvSpPr txBox="1"/>
            <p:nvPr/>
          </p:nvSpPr>
          <p:spPr>
            <a:xfrm>
              <a:off x="5816234" y="4273152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15" name="Google Shape;715;p56"/>
            <p:cNvSpPr txBox="1"/>
            <p:nvPr/>
          </p:nvSpPr>
          <p:spPr>
            <a:xfrm>
              <a:off x="4038275" y="4279727"/>
              <a:ext cx="252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endPara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 txBox="1"/>
          <p:nvPr>
            <p:ph type="title"/>
          </p:nvPr>
        </p:nvSpPr>
        <p:spPr>
          <a:xfrm>
            <a:off x="276075" y="457200"/>
            <a:ext cx="51243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 timeline</a:t>
            </a:r>
            <a:endParaRPr/>
          </a:p>
        </p:txBody>
      </p:sp>
      <p:grpSp>
        <p:nvGrpSpPr>
          <p:cNvPr id="721" name="Google Shape;721;p57"/>
          <p:cNvGrpSpPr/>
          <p:nvPr/>
        </p:nvGrpSpPr>
        <p:grpSpPr>
          <a:xfrm>
            <a:off x="282621" y="1392500"/>
            <a:ext cx="8579429" cy="3215100"/>
            <a:chOff x="282621" y="1392500"/>
            <a:chExt cx="8579429" cy="3215100"/>
          </a:xfrm>
        </p:grpSpPr>
        <p:grpSp>
          <p:nvGrpSpPr>
            <p:cNvPr id="722" name="Google Shape;722;p57"/>
            <p:cNvGrpSpPr/>
            <p:nvPr/>
          </p:nvGrpSpPr>
          <p:grpSpPr>
            <a:xfrm>
              <a:off x="282633" y="1392500"/>
              <a:ext cx="8578388" cy="3215100"/>
              <a:chOff x="282633" y="1392500"/>
              <a:chExt cx="8578388" cy="3215100"/>
            </a:xfrm>
          </p:grpSpPr>
          <p:cxnSp>
            <p:nvCxnSpPr>
              <p:cNvPr id="723" name="Google Shape;723;p57"/>
              <p:cNvCxnSpPr/>
              <p:nvPr/>
            </p:nvCxnSpPr>
            <p:spPr>
              <a:xfrm rot="10800000">
                <a:off x="282995" y="358010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57"/>
              <p:cNvCxnSpPr/>
              <p:nvPr/>
            </p:nvCxnSpPr>
            <p:spPr>
              <a:xfrm rot="10800000">
                <a:off x="282995" y="392257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57"/>
              <p:cNvCxnSpPr/>
              <p:nvPr/>
            </p:nvCxnSpPr>
            <p:spPr>
              <a:xfrm rot="10800000">
                <a:off x="282995" y="426505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57"/>
              <p:cNvCxnSpPr/>
              <p:nvPr/>
            </p:nvCxnSpPr>
            <p:spPr>
              <a:xfrm rot="10800000">
                <a:off x="283720" y="46075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57"/>
              <p:cNvCxnSpPr/>
              <p:nvPr/>
            </p:nvCxnSpPr>
            <p:spPr>
              <a:xfrm rot="10800000">
                <a:off x="282633" y="255267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57"/>
              <p:cNvCxnSpPr/>
              <p:nvPr/>
            </p:nvCxnSpPr>
            <p:spPr>
              <a:xfrm rot="10800000">
                <a:off x="282633" y="289515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57"/>
              <p:cNvCxnSpPr/>
              <p:nvPr/>
            </p:nvCxnSpPr>
            <p:spPr>
              <a:xfrm rot="10800000">
                <a:off x="282633" y="32376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57"/>
              <p:cNvCxnSpPr/>
              <p:nvPr/>
            </p:nvCxnSpPr>
            <p:spPr>
              <a:xfrm rot="10800000">
                <a:off x="282633" y="1867725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57"/>
              <p:cNvCxnSpPr/>
              <p:nvPr/>
            </p:nvCxnSpPr>
            <p:spPr>
              <a:xfrm rot="10800000">
                <a:off x="282633" y="2210200"/>
                <a:ext cx="8577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57"/>
              <p:cNvCxnSpPr/>
              <p:nvPr/>
            </p:nvCxnSpPr>
            <p:spPr>
              <a:xfrm rot="10800000">
                <a:off x="4313275" y="1392500"/>
                <a:ext cx="0" cy="321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57"/>
              <p:cNvCxnSpPr/>
              <p:nvPr/>
            </p:nvCxnSpPr>
            <p:spPr>
              <a:xfrm rot="10800000">
                <a:off x="6586650" y="1392500"/>
                <a:ext cx="0" cy="3215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4" name="Google Shape;734;p57"/>
            <p:cNvGrpSpPr/>
            <p:nvPr/>
          </p:nvGrpSpPr>
          <p:grpSpPr>
            <a:xfrm>
              <a:off x="282621" y="1962025"/>
              <a:ext cx="1559400" cy="2551213"/>
              <a:chOff x="282621" y="1962025"/>
              <a:chExt cx="1559400" cy="2551213"/>
            </a:xfrm>
          </p:grpSpPr>
          <p:sp>
            <p:nvSpPr>
              <p:cNvPr id="735" name="Google Shape;735;p57"/>
              <p:cNvSpPr txBox="1"/>
              <p:nvPr/>
            </p:nvSpPr>
            <p:spPr>
              <a:xfrm>
                <a:off x="282621" y="1962025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Market research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736" name="Google Shape;736;p57"/>
              <p:cNvSpPr txBox="1"/>
              <p:nvPr/>
            </p:nvSpPr>
            <p:spPr>
              <a:xfrm>
                <a:off x="282621" y="230448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Specifications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737" name="Google Shape;737;p57"/>
              <p:cNvSpPr txBox="1"/>
              <p:nvPr/>
            </p:nvSpPr>
            <p:spPr>
              <a:xfrm>
                <a:off x="282621" y="264695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Planning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738" name="Google Shape;738;p57"/>
              <p:cNvSpPr txBox="1"/>
              <p:nvPr/>
            </p:nvSpPr>
            <p:spPr>
              <a:xfrm>
                <a:off x="282621" y="298943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Design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739" name="Google Shape;739;p57"/>
              <p:cNvSpPr txBox="1"/>
              <p:nvPr/>
            </p:nvSpPr>
            <p:spPr>
              <a:xfrm>
                <a:off x="282621" y="333190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Development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740" name="Google Shape;740;p57"/>
              <p:cNvSpPr txBox="1"/>
              <p:nvPr/>
            </p:nvSpPr>
            <p:spPr>
              <a:xfrm>
                <a:off x="282621" y="367438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Training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741" name="Google Shape;741;p57"/>
              <p:cNvSpPr txBox="1"/>
              <p:nvPr/>
            </p:nvSpPr>
            <p:spPr>
              <a:xfrm>
                <a:off x="282621" y="401685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Assessment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sp>
            <p:nvSpPr>
              <p:cNvPr id="742" name="Google Shape;742;p57"/>
              <p:cNvSpPr txBox="1"/>
              <p:nvPr/>
            </p:nvSpPr>
            <p:spPr>
              <a:xfrm>
                <a:off x="282621" y="4359338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Documentation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</p:grpSp>
        <p:grpSp>
          <p:nvGrpSpPr>
            <p:cNvPr id="743" name="Google Shape;743;p57"/>
            <p:cNvGrpSpPr/>
            <p:nvPr/>
          </p:nvGrpSpPr>
          <p:grpSpPr>
            <a:xfrm>
              <a:off x="2128674" y="1392613"/>
              <a:ext cx="2095888" cy="439788"/>
              <a:chOff x="2128674" y="1392613"/>
              <a:chExt cx="2095888" cy="439788"/>
            </a:xfrm>
          </p:grpSpPr>
          <p:sp>
            <p:nvSpPr>
              <p:cNvPr id="744" name="Google Shape;744;p57"/>
              <p:cNvSpPr txBox="1"/>
              <p:nvPr/>
            </p:nvSpPr>
            <p:spPr>
              <a:xfrm>
                <a:off x="2396871" y="1392613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Month 1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grpSp>
            <p:nvGrpSpPr>
              <p:cNvPr id="745" name="Google Shape;745;p57"/>
              <p:cNvGrpSpPr/>
              <p:nvPr/>
            </p:nvGrpSpPr>
            <p:grpSpPr>
              <a:xfrm>
                <a:off x="2128674" y="1678500"/>
                <a:ext cx="2095888" cy="153900"/>
                <a:chOff x="2128674" y="1678500"/>
                <a:chExt cx="2095888" cy="153900"/>
              </a:xfrm>
            </p:grpSpPr>
            <p:sp>
              <p:nvSpPr>
                <p:cNvPr descr="A chart showing when several project steps need to be completed across three months. " id="746" name="Google Shape;746;p57"/>
                <p:cNvSpPr txBox="1"/>
                <p:nvPr/>
              </p:nvSpPr>
              <p:spPr>
                <a:xfrm>
                  <a:off x="2128674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W1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7" name="Google Shape;747;p57"/>
                <p:cNvSpPr txBox="1"/>
                <p:nvPr/>
              </p:nvSpPr>
              <p:spPr>
                <a:xfrm>
                  <a:off x="269696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W2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8" name="Google Shape;748;p57"/>
                <p:cNvSpPr txBox="1"/>
                <p:nvPr/>
              </p:nvSpPr>
              <p:spPr>
                <a:xfrm>
                  <a:off x="326531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W3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9" name="Google Shape;749;p57"/>
                <p:cNvSpPr txBox="1"/>
                <p:nvPr/>
              </p:nvSpPr>
              <p:spPr>
                <a:xfrm>
                  <a:off x="383366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W4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750" name="Google Shape;750;p57"/>
            <p:cNvGrpSpPr/>
            <p:nvPr/>
          </p:nvGrpSpPr>
          <p:grpSpPr>
            <a:xfrm>
              <a:off x="4402012" y="1392600"/>
              <a:ext cx="2095888" cy="439800"/>
              <a:chOff x="4402012" y="1392600"/>
              <a:chExt cx="2095888" cy="439800"/>
            </a:xfrm>
          </p:grpSpPr>
          <p:sp>
            <p:nvSpPr>
              <p:cNvPr id="751" name="Google Shape;751;p57"/>
              <p:cNvSpPr txBox="1"/>
              <p:nvPr/>
            </p:nvSpPr>
            <p:spPr>
              <a:xfrm>
                <a:off x="4670246" y="1392600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Month 2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grpSp>
            <p:nvGrpSpPr>
              <p:cNvPr id="752" name="Google Shape;752;p57"/>
              <p:cNvGrpSpPr/>
              <p:nvPr/>
            </p:nvGrpSpPr>
            <p:grpSpPr>
              <a:xfrm>
                <a:off x="4402012" y="1678500"/>
                <a:ext cx="2095888" cy="153900"/>
                <a:chOff x="4402012" y="1678500"/>
                <a:chExt cx="2095888" cy="153900"/>
              </a:xfrm>
            </p:grpSpPr>
            <p:sp>
              <p:nvSpPr>
                <p:cNvPr id="753" name="Google Shape;753;p57"/>
                <p:cNvSpPr txBox="1"/>
                <p:nvPr/>
              </p:nvSpPr>
              <p:spPr>
                <a:xfrm>
                  <a:off x="440201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W1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4" name="Google Shape;754;p57"/>
                <p:cNvSpPr txBox="1"/>
                <p:nvPr/>
              </p:nvSpPr>
              <p:spPr>
                <a:xfrm>
                  <a:off x="497029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W2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5" name="Google Shape;755;p57"/>
                <p:cNvSpPr txBox="1"/>
                <p:nvPr/>
              </p:nvSpPr>
              <p:spPr>
                <a:xfrm>
                  <a:off x="553864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W3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6" name="Google Shape;756;p57"/>
                <p:cNvSpPr txBox="1"/>
                <p:nvPr/>
              </p:nvSpPr>
              <p:spPr>
                <a:xfrm>
                  <a:off x="610699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W4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757" name="Google Shape;757;p57"/>
            <p:cNvGrpSpPr/>
            <p:nvPr/>
          </p:nvGrpSpPr>
          <p:grpSpPr>
            <a:xfrm>
              <a:off x="6675362" y="1392613"/>
              <a:ext cx="2095888" cy="439788"/>
              <a:chOff x="6675362" y="1392613"/>
              <a:chExt cx="2095888" cy="439788"/>
            </a:xfrm>
          </p:grpSpPr>
          <p:sp>
            <p:nvSpPr>
              <p:cNvPr id="758" name="Google Shape;758;p57"/>
              <p:cNvSpPr txBox="1"/>
              <p:nvPr/>
            </p:nvSpPr>
            <p:spPr>
              <a:xfrm>
                <a:off x="6943621" y="1392613"/>
                <a:ext cx="15594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Playfair Display Medium"/>
                    <a:ea typeface="Playfair Display Medium"/>
                    <a:cs typeface="Playfair Display Medium"/>
                    <a:sym typeface="Playfair Display Medium"/>
                  </a:rPr>
                  <a:t>Month 3</a:t>
                </a:r>
                <a:endParaRPr sz="1000">
                  <a:solidFill>
                    <a:schemeClr val="lt1"/>
                  </a:solidFill>
                  <a:latin typeface="Playfair Display Medium"/>
                  <a:ea typeface="Playfair Display Medium"/>
                  <a:cs typeface="Playfair Display Medium"/>
                  <a:sym typeface="Playfair Display Medium"/>
                </a:endParaRPr>
              </a:p>
            </p:txBody>
          </p:sp>
          <p:grpSp>
            <p:nvGrpSpPr>
              <p:cNvPr id="759" name="Google Shape;759;p57"/>
              <p:cNvGrpSpPr/>
              <p:nvPr/>
            </p:nvGrpSpPr>
            <p:grpSpPr>
              <a:xfrm>
                <a:off x="6675362" y="1678500"/>
                <a:ext cx="2095888" cy="153900"/>
                <a:chOff x="6675362" y="1678500"/>
                <a:chExt cx="2095888" cy="153900"/>
              </a:xfrm>
            </p:grpSpPr>
            <p:sp>
              <p:nvSpPr>
                <p:cNvPr id="760" name="Google Shape;760;p57"/>
                <p:cNvSpPr txBox="1"/>
                <p:nvPr/>
              </p:nvSpPr>
              <p:spPr>
                <a:xfrm>
                  <a:off x="6675362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W1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1" name="Google Shape;761;p57"/>
                <p:cNvSpPr txBox="1"/>
                <p:nvPr/>
              </p:nvSpPr>
              <p:spPr>
                <a:xfrm>
                  <a:off x="724364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W2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2" name="Google Shape;762;p57"/>
                <p:cNvSpPr txBox="1"/>
                <p:nvPr/>
              </p:nvSpPr>
              <p:spPr>
                <a:xfrm>
                  <a:off x="781199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W3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3" name="Google Shape;763;p57"/>
                <p:cNvSpPr txBox="1"/>
                <p:nvPr/>
              </p:nvSpPr>
              <p:spPr>
                <a:xfrm>
                  <a:off x="8380349" y="1678500"/>
                  <a:ext cx="390900" cy="15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W4</a:t>
                  </a:r>
                  <a:endParaRPr sz="10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764" name="Google Shape;764;p57"/>
            <p:cNvSpPr/>
            <p:nvPr/>
          </p:nvSpPr>
          <p:spPr>
            <a:xfrm>
              <a:off x="2165150" y="2268488"/>
              <a:ext cx="4332900" cy="225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5" name="Google Shape;765;p57"/>
            <p:cNvSpPr/>
            <p:nvPr/>
          </p:nvSpPr>
          <p:spPr>
            <a:xfrm>
              <a:off x="2165150" y="2610975"/>
              <a:ext cx="6696900" cy="225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6" name="Google Shape;766;p57"/>
            <p:cNvSpPr/>
            <p:nvPr/>
          </p:nvSpPr>
          <p:spPr>
            <a:xfrm>
              <a:off x="2165150" y="3638398"/>
              <a:ext cx="2627700" cy="225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7" name="Google Shape;767;p57"/>
            <p:cNvSpPr/>
            <p:nvPr/>
          </p:nvSpPr>
          <p:spPr>
            <a:xfrm>
              <a:off x="6229650" y="3980863"/>
              <a:ext cx="2627700" cy="225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8" name="Google Shape;768;p57"/>
            <p:cNvSpPr/>
            <p:nvPr/>
          </p:nvSpPr>
          <p:spPr>
            <a:xfrm>
              <a:off x="4443350" y="4323338"/>
              <a:ext cx="4418700" cy="225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ADD DATE RANGE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769" name="Google Shape;769;p57"/>
            <p:cNvGrpSpPr/>
            <p:nvPr/>
          </p:nvGrpSpPr>
          <p:grpSpPr>
            <a:xfrm>
              <a:off x="2165150" y="1926013"/>
              <a:ext cx="2899175" cy="225900"/>
              <a:chOff x="2165150" y="1926013"/>
              <a:chExt cx="2899175" cy="225900"/>
            </a:xfrm>
          </p:grpSpPr>
          <p:sp>
            <p:nvSpPr>
              <p:cNvPr id="770" name="Google Shape;770;p57"/>
              <p:cNvSpPr/>
              <p:nvPr/>
            </p:nvSpPr>
            <p:spPr>
              <a:xfrm>
                <a:off x="2165150" y="1926013"/>
                <a:ext cx="2627700" cy="225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None/>
                </a:pPr>
                <a:r>
                  <a:rPr lang="en" sz="8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ADD DATE RANGE</a:t>
                </a:r>
                <a:endParaRPr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71" name="Google Shape;771;p57"/>
              <p:cNvGrpSpPr/>
              <p:nvPr/>
            </p:nvGrpSpPr>
            <p:grpSpPr>
              <a:xfrm>
                <a:off x="4838425" y="1926013"/>
                <a:ext cx="225900" cy="225900"/>
                <a:chOff x="4838425" y="1926013"/>
                <a:chExt cx="225900" cy="225900"/>
              </a:xfrm>
            </p:grpSpPr>
            <p:sp>
              <p:nvSpPr>
                <p:cNvPr id="772" name="Google Shape;772;p57"/>
                <p:cNvSpPr/>
                <p:nvPr/>
              </p:nvSpPr>
              <p:spPr>
                <a:xfrm>
                  <a:off x="4838425" y="1926013"/>
                  <a:ext cx="225900" cy="2259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773" name="Google Shape;773;p57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889875" y="1977460"/>
                  <a:ext cx="123000" cy="123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774" name="Google Shape;774;p57"/>
            <p:cNvGrpSpPr/>
            <p:nvPr/>
          </p:nvGrpSpPr>
          <p:grpSpPr>
            <a:xfrm>
              <a:off x="4402000" y="2953425"/>
              <a:ext cx="2935375" cy="225925"/>
              <a:chOff x="4402000" y="2953425"/>
              <a:chExt cx="2935375" cy="225925"/>
            </a:xfrm>
          </p:grpSpPr>
          <p:sp>
            <p:nvSpPr>
              <p:cNvPr id="775" name="Google Shape;775;p57"/>
              <p:cNvSpPr/>
              <p:nvPr/>
            </p:nvSpPr>
            <p:spPr>
              <a:xfrm>
                <a:off x="4402000" y="2953450"/>
                <a:ext cx="2664300" cy="225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None/>
                </a:pPr>
                <a:r>
                  <a:rPr lang="en" sz="8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ADD DATE RANGE</a:t>
                </a:r>
                <a:endParaRPr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76" name="Google Shape;776;p57"/>
              <p:cNvGrpSpPr/>
              <p:nvPr/>
            </p:nvGrpSpPr>
            <p:grpSpPr>
              <a:xfrm>
                <a:off x="7111475" y="2953425"/>
                <a:ext cx="225900" cy="225900"/>
                <a:chOff x="7111475" y="2953425"/>
                <a:chExt cx="225900" cy="225900"/>
              </a:xfrm>
            </p:grpSpPr>
            <p:sp>
              <p:nvSpPr>
                <p:cNvPr id="777" name="Google Shape;777;p57"/>
                <p:cNvSpPr/>
                <p:nvPr/>
              </p:nvSpPr>
              <p:spPr>
                <a:xfrm>
                  <a:off x="7111475" y="2953425"/>
                  <a:ext cx="225900" cy="2259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778" name="Google Shape;778;p57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7162925" y="3004872"/>
                  <a:ext cx="123000" cy="123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779" name="Google Shape;779;p57"/>
            <p:cNvGrpSpPr/>
            <p:nvPr/>
          </p:nvGrpSpPr>
          <p:grpSpPr>
            <a:xfrm>
              <a:off x="2165150" y="3295913"/>
              <a:ext cx="2899175" cy="225913"/>
              <a:chOff x="2165150" y="3295913"/>
              <a:chExt cx="2899175" cy="225913"/>
            </a:xfrm>
          </p:grpSpPr>
          <p:sp>
            <p:nvSpPr>
              <p:cNvPr id="780" name="Google Shape;780;p57"/>
              <p:cNvSpPr/>
              <p:nvPr/>
            </p:nvSpPr>
            <p:spPr>
              <a:xfrm>
                <a:off x="2165150" y="3295925"/>
                <a:ext cx="2627700" cy="225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None/>
                </a:pPr>
                <a:r>
                  <a:rPr lang="en" sz="800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rPr>
                  <a:t>ADD DATE RANGE</a:t>
                </a:r>
                <a:endParaRPr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81" name="Google Shape;781;p57"/>
              <p:cNvGrpSpPr/>
              <p:nvPr/>
            </p:nvGrpSpPr>
            <p:grpSpPr>
              <a:xfrm>
                <a:off x="4838425" y="3295913"/>
                <a:ext cx="225900" cy="225900"/>
                <a:chOff x="4838425" y="3295913"/>
                <a:chExt cx="225900" cy="225900"/>
              </a:xfrm>
            </p:grpSpPr>
            <p:sp>
              <p:nvSpPr>
                <p:cNvPr id="782" name="Google Shape;782;p57"/>
                <p:cNvSpPr/>
                <p:nvPr/>
              </p:nvSpPr>
              <p:spPr>
                <a:xfrm>
                  <a:off x="4838425" y="3295913"/>
                  <a:ext cx="225900" cy="2259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00">
                    <a:solidFill>
                      <a:srgbClr val="FFFFFF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783" name="Google Shape;783;p57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889875" y="3347360"/>
                  <a:ext cx="123000" cy="123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784" name="Google Shape;784;p5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5" name="Google Shape;785;p57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grpSp>
        <p:nvGrpSpPr>
          <p:cNvPr id="786" name="Google Shape;786;p57"/>
          <p:cNvGrpSpPr/>
          <p:nvPr/>
        </p:nvGrpSpPr>
        <p:grpSpPr>
          <a:xfrm>
            <a:off x="8091815" y="285291"/>
            <a:ext cx="761700" cy="332750"/>
            <a:chOff x="8091815" y="285291"/>
            <a:chExt cx="761700" cy="332750"/>
          </a:xfrm>
        </p:grpSpPr>
        <p:sp>
          <p:nvSpPr>
            <p:cNvPr id="787" name="Google Shape;787;p57"/>
            <p:cNvSpPr/>
            <p:nvPr/>
          </p:nvSpPr>
          <p:spPr>
            <a:xfrm>
              <a:off x="8091815" y="5034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Milestones </a:t>
              </a:r>
              <a:endPara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788" name="Google Shape;788;p57"/>
            <p:cNvGrpSpPr/>
            <p:nvPr/>
          </p:nvGrpSpPr>
          <p:grpSpPr>
            <a:xfrm>
              <a:off x="8091822" y="285291"/>
              <a:ext cx="170400" cy="170400"/>
              <a:chOff x="8091822" y="285291"/>
              <a:chExt cx="170400" cy="170400"/>
            </a:xfrm>
          </p:grpSpPr>
          <p:sp>
            <p:nvSpPr>
              <p:cNvPr id="789" name="Google Shape;789;p57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790" name="Google Shape;790;p57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